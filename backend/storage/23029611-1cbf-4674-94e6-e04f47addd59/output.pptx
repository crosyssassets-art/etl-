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themeOverride" Target="../theme/themeOverride2.xml"/><Relationship Id="rId4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3.xml"/><Relationship Id="rId4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4.xml"/><Relationship Id="rId4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themeOverride" Target="../theme/themeOverride5.xml"/><Relationship Id="rId4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themeOverride" Target="../theme/themeOverride6.xml"/><Relationship Id="rId4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133365836926328E-2"/>
          <c:y val="0"/>
          <c:w val="0.99989525343882502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C66-4C3B-8B54-9AD0D017323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C66-4C3B-8B54-9AD0D0173232}"/>
              </c:ext>
            </c:extLst>
          </c:dPt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50.0</c:v>
                </c:pt>
                <c:pt idx="1">
                  <c:v>50.0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66-4C3B-8B54-9AD0D01732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9.49296647836187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C7C-447C-B5D9-DC0FE87B03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Sheet1!$A$2:$A$58</c:f>
              <c:strCache>
                <c:ptCount val="57"/>
                <c:pt idx="0">
                  <c:v>18</c:v>
                </c:pt>
                <c:pt idx="1">
                  <c:v>19</c:v>
                </c:pt>
                <c:pt idx="2">
                  <c:v>20</c:v>
                </c:pt>
                <c:pt idx="3">
                  <c:v>21</c:v>
                </c:pt>
                <c:pt idx="4">
                  <c:v>22</c:v>
                </c:pt>
                <c:pt idx="5">
                  <c:v>23</c:v>
                </c:pt>
                <c:pt idx="6">
                  <c:v>24</c:v>
                </c:pt>
                <c:pt idx="7">
                  <c:v>25</c:v>
                </c:pt>
                <c:pt idx="8">
                  <c:v>26</c:v>
                </c:pt>
                <c:pt idx="9">
                  <c:v>27</c:v>
                </c:pt>
                <c:pt idx="10">
                  <c:v>28</c:v>
                </c:pt>
                <c:pt idx="11">
                  <c:v>29</c:v>
                </c:pt>
                <c:pt idx="12">
                  <c:v>30</c:v>
                </c:pt>
                <c:pt idx="13">
                  <c:v>31</c:v>
                </c:pt>
                <c:pt idx="14">
                  <c:v>32</c:v>
                </c:pt>
                <c:pt idx="15">
                  <c:v>33</c:v>
                </c:pt>
                <c:pt idx="16">
                  <c:v>34</c:v>
                </c:pt>
                <c:pt idx="17">
                  <c:v>35</c:v>
                </c:pt>
                <c:pt idx="18">
                  <c:v>36</c:v>
                </c:pt>
                <c:pt idx="19">
                  <c:v>37</c:v>
                </c:pt>
                <c:pt idx="20">
                  <c:v>38</c:v>
                </c:pt>
                <c:pt idx="21">
                  <c:v>39</c:v>
                </c:pt>
                <c:pt idx="22">
                  <c:v>40</c:v>
                </c:pt>
                <c:pt idx="23">
                  <c:v>41</c:v>
                </c:pt>
                <c:pt idx="24">
                  <c:v>42</c:v>
                </c:pt>
                <c:pt idx="25">
                  <c:v>43</c:v>
                </c:pt>
                <c:pt idx="26">
                  <c:v>44</c:v>
                </c:pt>
                <c:pt idx="27">
                  <c:v>45</c:v>
                </c:pt>
                <c:pt idx="28">
                  <c:v>46</c:v>
                </c:pt>
                <c:pt idx="29">
                  <c:v>47</c:v>
                </c:pt>
                <c:pt idx="30">
                  <c:v>48</c:v>
                </c:pt>
                <c:pt idx="31">
                  <c:v>49</c:v>
                </c:pt>
                <c:pt idx="32">
                  <c:v>50</c:v>
                </c:pt>
                <c:pt idx="33">
                  <c:v>51</c:v>
                </c:pt>
                <c:pt idx="34">
                  <c:v>52</c:v>
                </c:pt>
                <c:pt idx="35">
                  <c:v>53</c:v>
                </c:pt>
                <c:pt idx="36">
                  <c:v>54</c:v>
                </c:pt>
                <c:pt idx="37">
                  <c:v>55</c:v>
                </c:pt>
                <c:pt idx="38">
                  <c:v>56</c:v>
                </c:pt>
                <c:pt idx="39">
                  <c:v>57</c:v>
                </c:pt>
                <c:pt idx="40">
                  <c:v>58</c:v>
                </c:pt>
                <c:pt idx="41">
                  <c:v>59</c:v>
                </c:pt>
                <c:pt idx="42">
                  <c:v>60</c:v>
                </c:pt>
                <c:pt idx="43">
                  <c:v>61</c:v>
                </c:pt>
                <c:pt idx="44">
                  <c:v>62</c:v>
                </c:pt>
                <c:pt idx="45">
                  <c:v>63</c:v>
                </c:pt>
                <c:pt idx="46">
                  <c:v>64</c:v>
                </c:pt>
                <c:pt idx="47">
                  <c:v>65</c:v>
                </c:pt>
                <c:pt idx="48">
                  <c:v>66</c:v>
                </c:pt>
                <c:pt idx="49">
                  <c:v>67</c:v>
                </c:pt>
                <c:pt idx="50">
                  <c:v>68</c:v>
                </c:pt>
                <c:pt idx="51">
                  <c:v>69</c:v>
                </c:pt>
                <c:pt idx="52">
                  <c:v>70</c:v>
                </c:pt>
                <c:pt idx="53">
                  <c:v>Gen Z (16-29 years) [NET]</c:v>
                </c:pt>
                <c:pt idx="54">
                  <c:v>Millennials (30-45 years) [NET]</c:v>
                </c:pt>
                <c:pt idx="55">
                  <c:v>Gen X (46-61 years) [NET]</c:v>
                </c:pt>
                <c:pt idx="56">
                  <c:v>Baby Boomers (Above 61 years old) [NET]</c:v>
                </c:pt>
              </c:strCache>
            </c:strRef>
          </c:cat>
          <c:val>
            <c:numRef>
              <c:f>Sheet1!$B$2:$B$58</c:f>
              <c:numCache>
                <c:formatCode>General</c:formatCode>
                <c:ptCount val="57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0.0</c:v>
                </c:pt>
                <c:pt idx="7">
                  <c:v>3.0</c:v>
                </c:pt>
                <c:pt idx="8">
                  <c:v>2.0</c:v>
                </c:pt>
                <c:pt idx="9">
                  <c:v>3.0</c:v>
                </c:pt>
                <c:pt idx="10">
                  <c:v>3.0</c:v>
                </c:pt>
                <c:pt idx="11">
                  <c:v>3.0</c:v>
                </c:pt>
                <c:pt idx="12">
                  <c:v>2.0</c:v>
                </c:pt>
                <c:pt idx="13">
                  <c:v>1.0</c:v>
                </c:pt>
                <c:pt idx="14">
                  <c:v>2.0</c:v>
                </c:pt>
                <c:pt idx="15">
                  <c:v>2.0</c:v>
                </c:pt>
                <c:pt idx="16">
                  <c:v>1.0</c:v>
                </c:pt>
                <c:pt idx="17">
                  <c:v>3.0</c:v>
                </c:pt>
                <c:pt idx="18">
                  <c:v>2.0</c:v>
                </c:pt>
                <c:pt idx="19">
                  <c:v>3.0</c:v>
                </c:pt>
                <c:pt idx="20">
                  <c:v>4.0</c:v>
                </c:pt>
                <c:pt idx="21">
                  <c:v>3.0</c:v>
                </c:pt>
                <c:pt idx="22">
                  <c:v>2.0</c:v>
                </c:pt>
                <c:pt idx="23">
                  <c:v>1.0</c:v>
                </c:pt>
                <c:pt idx="24">
                  <c:v>3.0</c:v>
                </c:pt>
                <c:pt idx="25">
                  <c:v>3.0</c:v>
                </c:pt>
                <c:pt idx="26">
                  <c:v>2.0</c:v>
                </c:pt>
                <c:pt idx="27">
                  <c:v>3.0</c:v>
                </c:pt>
                <c:pt idx="28">
                  <c:v>3.0</c:v>
                </c:pt>
                <c:pt idx="29">
                  <c:v>1.0</c:v>
                </c:pt>
                <c:pt idx="30">
                  <c:v>2.0</c:v>
                </c:pt>
                <c:pt idx="31">
                  <c:v>2.0</c:v>
                </c:pt>
                <c:pt idx="32">
                  <c:v>3.0</c:v>
                </c:pt>
                <c:pt idx="33">
                  <c:v>2.0</c:v>
                </c:pt>
                <c:pt idx="34">
                  <c:v>2.0</c:v>
                </c:pt>
                <c:pt idx="35">
                  <c:v>3.0</c:v>
                </c:pt>
                <c:pt idx="36">
                  <c:v>2.0</c:v>
                </c:pt>
                <c:pt idx="37">
                  <c:v>1.0</c:v>
                </c:pt>
                <c:pt idx="38">
                  <c:v>1.0</c:v>
                </c:pt>
                <c:pt idx="39">
                  <c:v>1.0</c:v>
                </c:pt>
                <c:pt idx="40">
                  <c:v>1.0</c:v>
                </c:pt>
                <c:pt idx="41">
                  <c:v>1.0</c:v>
                </c:pt>
                <c:pt idx="42">
                  <c:v>1.0</c:v>
                </c:pt>
                <c:pt idx="43">
                  <c:v>1.0</c:v>
                </c:pt>
                <c:pt idx="44">
                  <c:v>4.0</c:v>
                </c:pt>
                <c:pt idx="45">
                  <c:v>4.0</c:v>
                </c:pt>
                <c:pt idx="46">
                  <c:v>3.0</c:v>
                </c:pt>
                <c:pt idx="47">
                  <c:v>2.0</c:v>
                </c:pt>
                <c:pt idx="48">
                  <c:v>3.0</c:v>
                </c:pt>
                <c:pt idx="49">
                  <c:v>2.0</c:v>
                </c:pt>
                <c:pt idx="50">
                  <c:v>1.0</c:v>
                </c:pt>
                <c:pt idx="51">
                  <c:v>1.0</c:v>
                </c:pt>
                <c:pt idx="52">
                  <c:v>0.0</c:v>
                </c:pt>
                <c:pt idx="53">
                  <c:v>19.0</c:v>
                </c:pt>
                <c:pt idx="54">
                  <c:v>37.0</c:v>
                </c:pt>
                <c:pt idx="55">
                  <c:v>25.0</c:v>
                </c:pt>
                <c:pt idx="56">
                  <c:v>19.0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7C-447C-B5D9-DC0FE87B03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overlap val="-27"/>
        <c:axId val="167878111"/>
        <c:axId val="167866111"/>
      </c:barChart>
      <c:catAx>
        <c:axId val="167878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  <c:max val="1"/>
        </c:scaling>
        <c:delete val="1"/>
        <c:axPos val="l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</c:spPr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E3B-4F9F-B357-020ACC977B6D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E3B-4F9F-B357-020ACC977B6D}"/>
              </c:ext>
            </c:extLst>
          </c:dPt>
          <c:dPt>
            <c:idx val="2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E3B-4F9F-B357-020ACC977B6D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E3B-4F9F-B357-020ACC977B6D}"/>
              </c:ext>
            </c:extLst>
          </c:dPt>
          <c:dLbls>
            <c:dLbl>
              <c:idx val="2"/>
              <c:layout>
                <c:manualLayout>
                  <c:x val="2.3359936663319775E-2"/>
                  <c:y val="9.3098055849762426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E3B-4F9F-B357-020ACC977B6D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E3B-4F9F-B357-020ACC977B6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Married with children</c:v>
                </c:pt>
                <c:pt idx="1">
                  <c:v>Married without children</c:v>
                </c:pt>
                <c:pt idx="2">
                  <c:v>Single</c:v>
                </c:pt>
                <c:pt idx="3">
                  <c:v>Divorced</c:v>
                </c:pt>
                <c:pt idx="4">
                  <c:v>Widowed</c:v>
                </c:pt>
                <c:pt idx="5">
                  <c:v>Prefer not to say</c:v>
                </c:pt>
                <c:pt idx="6">
                  <c:v>Married [NET]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46.0</c:v>
                </c:pt>
                <c:pt idx="1">
                  <c:v>12.0</c:v>
                </c:pt>
                <c:pt idx="2">
                  <c:v>37.0</c:v>
                </c:pt>
                <c:pt idx="3">
                  <c:v>3.0</c:v>
                </c:pt>
                <c:pt idx="4">
                  <c:v>2.0</c:v>
                </c:pt>
                <c:pt idx="5">
                  <c:v>0.0</c:v>
                </c:pt>
                <c:pt idx="6">
                  <c:v>57.99999999999999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E3B-4F9F-B357-020ACC977B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3162019162803152"/>
          <c:y val="8.9241568045258318E-2"/>
          <c:w val="0.64185522125099814"/>
          <c:h val="0.8215168639094834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0923432199258065E-2"/>
                  <c:y val="6.085609607808284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sz="900" b="1" i="0" u="none" strike="noStrike" kern="1200" baseline="0">
                      <a:solidFill>
                        <a:srgbClr val="000000"/>
                      </a:solidFill>
                      <a:latin typeface="Montserrat" panose="00000500000000000000" pitchFamily="2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80-48BF-8029-98BB6B45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1" i="0" u="none" strike="noStrike" kern="1200" baseline="0">
                    <a:solidFill>
                      <a:schemeClr val="bg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No formal education</c:v>
                </c:pt>
                <c:pt idx="1">
                  <c:v>Elementary or Primary Education</c:v>
                </c:pt>
                <c:pt idx="2">
                  <c:v>Secondary education / Junior College Education</c:v>
                </c:pt>
                <c:pt idx="3">
                  <c:v>Tertiary University / Polytechnic</c:v>
                </c:pt>
                <c:pt idx="4">
                  <c:v>Post Graduate Studies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</c:v>
                </c:pt>
                <c:pt idx="1">
                  <c:v>1.0</c:v>
                </c:pt>
                <c:pt idx="2">
                  <c:v>22.0</c:v>
                </c:pt>
                <c:pt idx="3">
                  <c:v>54.0</c:v>
                </c:pt>
                <c:pt idx="4">
                  <c:v>22.0</c:v>
                </c:pt>
                <c:pt idx="5">
                  <c:v>1.0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80-48BF-8029-98BB6B4569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4"/>
        <c:axId val="167878111"/>
        <c:axId val="167866111"/>
      </c:barChart>
      <c:catAx>
        <c:axId val="1678781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167866111"/>
        <c:crosses val="autoZero"/>
        <c:auto val="1"/>
        <c:lblAlgn val="ctr"/>
        <c:lblOffset val="100"/>
        <c:noMultiLvlLbl val="0"/>
      </c:catAx>
      <c:valAx>
        <c:axId val="167866111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167878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concern at all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3.4795092522068431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28B-45D4-AC8B-E1EEC48AC106}"/>
                </c:ext>
              </c:extLst>
            </c:dLbl>
            <c:dLbl>
              <c:idx val="3"/>
              <c:layout>
                <c:manualLayout>
                  <c:x val="3.4795092522068431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28B-45D4-AC8B-E1EEC48AC106}"/>
                </c:ext>
              </c:extLst>
            </c:dLbl>
            <c:dLbl>
              <c:idx val="4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28B-45D4-AC8B-E1EEC48AC106}"/>
                </c:ext>
              </c:extLst>
            </c:dLbl>
            <c:dLbl>
              <c:idx val="5"/>
              <c:layout>
                <c:manualLayout>
                  <c:x val="3.4795092522068856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28B-45D4-AC8B-E1EEC48AC106}"/>
                </c:ext>
              </c:extLst>
            </c:dLbl>
            <c:dLbl>
              <c:idx val="6"/>
              <c:layout>
                <c:manualLayout>
                  <c:x val="6.9590185044137286E-3"/>
                  <c:y val="1.0848000915709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28B-45D4-AC8B-E1EEC48AC106}"/>
                </c:ext>
              </c:extLst>
            </c:dLbl>
            <c:dLbl>
              <c:idx val="10"/>
              <c:layout>
                <c:manualLayout>
                  <c:x val="2.319672834804548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28B-45D4-AC8B-E1EEC48AC1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(5) Extremely concerned</c:v>
                </c:pt>
                <c:pt idx="1">
                  <c:v>(4) 4</c:v>
                </c:pt>
                <c:pt idx="2">
                  <c:v>(3) Neutral</c:v>
                </c:pt>
                <c:pt idx="3">
                  <c:v>(2) 2</c:v>
                </c:pt>
                <c:pt idx="4">
                  <c:v>(1) Not at all concerned</c:v>
                </c:pt>
                <c:pt idx="5">
                  <c:v>Top 2 Box [NET]</c:v>
                </c:pt>
                <c:pt idx="6">
                  <c:v>Bottom 2 Box [NET]</c:v>
                </c:pt>
                <c:pt idx="7">
                  <c:v>Mean</c:v>
                </c:pt>
                <c:pt idx="8">
                  <c:v>Standard Deviation</c:v>
                </c:pt>
                <c:pt idx="9">
                  <c:v>Standard Error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24.0</c:v>
                </c:pt>
                <c:pt idx="1">
                  <c:v>54.0</c:v>
                </c:pt>
                <c:pt idx="2">
                  <c:v>17.0</c:v>
                </c:pt>
                <c:pt idx="3">
                  <c:v>4.0</c:v>
                </c:pt>
                <c:pt idx="4">
                  <c:v>2.0</c:v>
                </c:pt>
                <c:pt idx="5">
                  <c:v>78.0</c:v>
                </c:pt>
                <c:pt idx="6">
                  <c:v>5.0</c:v>
                </c:pt>
                <c:pt idx="7">
                  <c:v>4.0</c:v>
                </c:pt>
                <c:pt idx="8">
                  <c:v>80.0</c:v>
                </c:pt>
                <c:pt idx="9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28B-45D4-AC8B-E1EEC48AC1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Somewhat not concern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(5) Extremely concerned</c:v>
                </c:pt>
                <c:pt idx="1">
                  <c:v>(4) 4</c:v>
                </c:pt>
                <c:pt idx="2">
                  <c:v>(3) Neutral</c:v>
                </c:pt>
                <c:pt idx="3">
                  <c:v>(2) 2</c:v>
                </c:pt>
                <c:pt idx="4">
                  <c:v>(1) Not at all concerned</c:v>
                </c:pt>
                <c:pt idx="5">
                  <c:v>Top 2 Box [NET]</c:v>
                </c:pt>
                <c:pt idx="6">
                  <c:v>Bottom 2 Box [NET]</c:v>
                </c:pt>
                <c:pt idx="7">
                  <c:v>Mean</c:v>
                </c:pt>
                <c:pt idx="8">
                  <c:v>Standard Deviation</c:v>
                </c:pt>
                <c:pt idx="9">
                  <c:v>Standard Error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24.0</c:v>
                </c:pt>
                <c:pt idx="1">
                  <c:v>54.0</c:v>
                </c:pt>
                <c:pt idx="2">
                  <c:v>17.0</c:v>
                </c:pt>
                <c:pt idx="3">
                  <c:v>4.0</c:v>
                </c:pt>
                <c:pt idx="4">
                  <c:v>2.0</c:v>
                </c:pt>
                <c:pt idx="5">
                  <c:v>78.0</c:v>
                </c:pt>
                <c:pt idx="6">
                  <c:v>5.0</c:v>
                </c:pt>
                <c:pt idx="7">
                  <c:v>4.0</c:v>
                </c:pt>
                <c:pt idx="8">
                  <c:v>80.0</c:v>
                </c:pt>
                <c:pt idx="9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28B-45D4-AC8B-E1EEC48AC10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(5) Extremely concerned</c:v>
                </c:pt>
                <c:pt idx="1">
                  <c:v>(4) 4</c:v>
                </c:pt>
                <c:pt idx="2">
                  <c:v>(3) Neutral</c:v>
                </c:pt>
                <c:pt idx="3">
                  <c:v>(2) 2</c:v>
                </c:pt>
                <c:pt idx="4">
                  <c:v>(1) Not at all concerned</c:v>
                </c:pt>
                <c:pt idx="5">
                  <c:v>Top 2 Box [NET]</c:v>
                </c:pt>
                <c:pt idx="6">
                  <c:v>Bottom 2 Box [NET]</c:v>
                </c:pt>
                <c:pt idx="7">
                  <c:v>Mean</c:v>
                </c:pt>
                <c:pt idx="8">
                  <c:v>Standard Deviation</c:v>
                </c:pt>
                <c:pt idx="9">
                  <c:v>Standard Error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24.0</c:v>
                </c:pt>
                <c:pt idx="1">
                  <c:v>54.0</c:v>
                </c:pt>
                <c:pt idx="2">
                  <c:v>17.0</c:v>
                </c:pt>
                <c:pt idx="3">
                  <c:v>4.0</c:v>
                </c:pt>
                <c:pt idx="4">
                  <c:v>2.0</c:v>
                </c:pt>
                <c:pt idx="5">
                  <c:v>78.0</c:v>
                </c:pt>
                <c:pt idx="6">
                  <c:v>5.0</c:v>
                </c:pt>
                <c:pt idx="7">
                  <c:v>4.0</c:v>
                </c:pt>
                <c:pt idx="8">
                  <c:v>80.0</c:v>
                </c:pt>
                <c:pt idx="9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28B-45D4-AC8B-E1EEC48AC10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Somewhat concern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(5) Extremely concerned</c:v>
                </c:pt>
                <c:pt idx="1">
                  <c:v>(4) 4</c:v>
                </c:pt>
                <c:pt idx="2">
                  <c:v>(3) Neutral</c:v>
                </c:pt>
                <c:pt idx="3">
                  <c:v>(2) 2</c:v>
                </c:pt>
                <c:pt idx="4">
                  <c:v>(1) Not at all concerned</c:v>
                </c:pt>
                <c:pt idx="5">
                  <c:v>Top 2 Box [NET]</c:v>
                </c:pt>
                <c:pt idx="6">
                  <c:v>Bottom 2 Box [NET]</c:v>
                </c:pt>
                <c:pt idx="7">
                  <c:v>Mean</c:v>
                </c:pt>
                <c:pt idx="8">
                  <c:v>Standard Deviation</c:v>
                </c:pt>
                <c:pt idx="9">
                  <c:v>Standard Error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24.0</c:v>
                </c:pt>
                <c:pt idx="1">
                  <c:v>54.0</c:v>
                </c:pt>
                <c:pt idx="2">
                  <c:v>17.0</c:v>
                </c:pt>
                <c:pt idx="3">
                  <c:v>4.0</c:v>
                </c:pt>
                <c:pt idx="4">
                  <c:v>2.0</c:v>
                </c:pt>
                <c:pt idx="5">
                  <c:v>78.0</c:v>
                </c:pt>
                <c:pt idx="6">
                  <c:v>5.0</c:v>
                </c:pt>
                <c:pt idx="7">
                  <c:v>4.0</c:v>
                </c:pt>
                <c:pt idx="8">
                  <c:v>80.0</c:v>
                </c:pt>
                <c:pt idx="9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28B-45D4-AC8B-E1EEC48AC106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Extremely concern</c:v>
                </c:pt>
              </c:strCache>
            </c:strRef>
          </c:tx>
          <c:spPr>
            <a:solidFill>
              <a:schemeClr val="accent4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(5) Extremely concerned</c:v>
                </c:pt>
                <c:pt idx="1">
                  <c:v>(4) 4</c:v>
                </c:pt>
                <c:pt idx="2">
                  <c:v>(3) Neutral</c:v>
                </c:pt>
                <c:pt idx="3">
                  <c:v>(2) 2</c:v>
                </c:pt>
                <c:pt idx="4">
                  <c:v>(1) Not at all concerned</c:v>
                </c:pt>
                <c:pt idx="5">
                  <c:v>Top 2 Box [NET]</c:v>
                </c:pt>
                <c:pt idx="6">
                  <c:v>Bottom 2 Box [NET]</c:v>
                </c:pt>
                <c:pt idx="7">
                  <c:v>Mean</c:v>
                </c:pt>
                <c:pt idx="8">
                  <c:v>Standard Deviation</c:v>
                </c:pt>
                <c:pt idx="9">
                  <c:v>Standard Error</c:v>
                </c:pt>
              </c:strCache>
            </c: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24.0</c:v>
                </c:pt>
                <c:pt idx="1">
                  <c:v>54.0</c:v>
                </c:pt>
                <c:pt idx="2">
                  <c:v>17.0</c:v>
                </c:pt>
                <c:pt idx="3">
                  <c:v>4.0</c:v>
                </c:pt>
                <c:pt idx="4">
                  <c:v>2.0</c:v>
                </c:pt>
                <c:pt idx="5">
                  <c:v>78.0</c:v>
                </c:pt>
                <c:pt idx="6">
                  <c:v>5.0</c:v>
                </c:pt>
                <c:pt idx="7">
                  <c:v>4.0</c:v>
                </c:pt>
                <c:pt idx="8">
                  <c:v>80.0</c:v>
                </c:pt>
                <c:pt idx="9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28B-45D4-AC8B-E1EEC48AC10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1268605760"/>
        <c:axId val="1268610080"/>
      </c:barChart>
      <c:catAx>
        <c:axId val="126860576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8610080"/>
        <c:crosses val="autoZero"/>
        <c:auto val="1"/>
        <c:lblAlgn val="ctr"/>
        <c:lblOffset val="100"/>
        <c:noMultiLvlLbl val="0"/>
      </c:catAx>
      <c:valAx>
        <c:axId val="1268610080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1268605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1.7751479289940829E-2"/>
          <c:w val="1"/>
          <c:h val="0.1167381074407119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dk2" tx2="lt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50013045136171153"/>
          <c:y val="7.485675841592568E-3"/>
          <c:w val="0.47096541663020031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50"/>
            </a:solidFill>
            <a:ln>
              <a:solidFill>
                <a:schemeClr val="accent3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377-41D7-9732-CB3299D4B804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377-41D7-9732-CB3299D4B804}"/>
              </c:ext>
            </c:extLst>
          </c:dPt>
          <c:dPt>
            <c:idx val="2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377-41D7-9732-CB3299D4B804}"/>
              </c:ext>
            </c:extLst>
          </c:dPt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377-41D7-9732-CB3299D4B804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377-41D7-9732-CB3299D4B804}"/>
              </c:ext>
            </c:extLst>
          </c:dPt>
          <c:dPt>
            <c:idx val="5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377-41D7-9732-CB3299D4B804}"/>
              </c:ext>
            </c:extLst>
          </c:dPt>
          <c:dPt>
            <c:idx val="6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377-41D7-9732-CB3299D4B804}"/>
              </c:ext>
            </c:extLst>
          </c:dPt>
          <c:dPt>
            <c:idx val="7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377-41D7-9732-CB3299D4B804}"/>
              </c:ext>
            </c:extLst>
          </c:dPt>
          <c:dPt>
            <c:idx val="8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B377-41D7-9732-CB3299D4B8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/>
                    </a:solidFill>
                    <a:latin typeface="Montserrat" panose="00000500000000000000" pitchFamily="2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A Statement</c:v>
                </c:pt>
                <c:pt idx="1">
                  <c:v>B Statement</c:v>
                </c:pt>
                <c:pt idx="2">
                  <c:v>C Statement</c:v>
                </c:pt>
                <c:pt idx="3">
                  <c:v>D Statement</c:v>
                </c:pt>
                <c:pt idx="4">
                  <c:v>E Statement</c:v>
                </c:pt>
                <c:pt idx="5">
                  <c:v>F Statement</c:v>
                </c:pt>
                <c:pt idx="6">
                  <c:v>G Statement</c:v>
                </c:pt>
                <c:pt idx="7">
                  <c:v>H Statement</c:v>
                </c:pt>
                <c:pt idx="8">
                  <c:v>I Statement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43.0</c:v>
                </c:pt>
                <c:pt idx="1">
                  <c:v>43.0</c:v>
                </c:pt>
                <c:pt idx="2">
                  <c:v>59.0</c:v>
                </c:pt>
                <c:pt idx="3">
                  <c:v>47.0</c:v>
                </c:pt>
                <c:pt idx="4">
                  <c:v>22.0</c:v>
                </c:pt>
                <c:pt idx="5">
                  <c:v>63.0</c:v>
                </c:pt>
                <c:pt idx="6">
                  <c:v>62.0</c:v>
                </c:pt>
                <c:pt idx="7">
                  <c:v>43.0</c:v>
                </c:pt>
                <c:pt idx="8">
                  <c:v>60.0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377-41D7-9732-CB3299D4B80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3"/>
        <c:axId val="463209040"/>
        <c:axId val="463209520"/>
      </c:barChart>
      <c:catAx>
        <c:axId val="4632090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r">
              <a:defRPr sz="10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en-US"/>
          </a:p>
        </c:txPr>
        <c:crossAx val="463209520"/>
        <c:crosses val="autoZero"/>
        <c:auto val="1"/>
        <c:lblAlgn val="ctr"/>
        <c:lblOffset val="100"/>
        <c:noMultiLvlLbl val="0"/>
      </c:catAx>
      <c:valAx>
        <c:axId val="463209520"/>
        <c:scaling>
          <c:orientation val="minMax"/>
          <c:max val="1"/>
        </c:scaling>
        <c:delete val="1"/>
        <c:axPos val="t"/>
        <c:numFmt formatCode="0%" sourceLinked="1"/>
        <c:majorTickMark val="out"/>
        <c:minorTickMark val="none"/>
        <c:tickLblPos val="nextTo"/>
        <c:crossAx val="463209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224A-EB8C-5EDA-BCF3-69E0B94CBA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6459D-A483-55F9-177E-215ED458B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34A26-2C4E-5BCE-71BE-774E5A497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35D81-6110-FB08-7B68-6D56C8C68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81A3F-24B4-B21D-0B9F-55CE9A6F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424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BA409-A707-282D-782B-9160DE4F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BAAB2-7363-658B-EEC9-B55B7FF9F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F87BE-36B8-6FC9-2D6E-DCD36037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5427E-E7E3-A121-5E84-F4B6EA0CE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4B68-A862-2DDA-1270-89ADEF449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4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C0C4-9311-570D-3F90-2C4102FB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36C6-AEC2-5323-0A88-B962DEB8F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D2F70-5B0C-CD64-91B1-83F68C35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29082-52E8-98E0-A0B4-ABEE10D4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B8FEC-AFD4-F262-CCEF-FB58FA39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09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7D836-A005-B3C7-08B0-7A1B43C64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DCDF8-D7CA-E7C9-B0FA-CF5395F3B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F44FA-0695-AAB9-8351-70D246305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E3AAE-7771-EE0A-F869-CE8EBB77A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AB149-4420-F7D8-52AE-C6E8B34A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9A56BD-98D0-0458-F2DA-2E17CCCE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5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34AB-6329-BEDD-D455-9BA55809F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E0FC7-5C76-5617-652D-00355F6D6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E90E84-2C90-F71E-74EA-63D4968CE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7A9855-FE63-561E-17C4-5262E89F43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ECB82-D8DC-24C4-6E53-FE4984C04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33375-E7A7-3B3B-DFAE-A363FE526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00F64D-6D9C-66BF-6BED-771739A15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C80D42-F5F2-BFA5-5EFE-74A6D33D6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86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16CC4-D211-4C10-D01F-6E0A3881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A27EF-CAFB-BF3C-9DCA-177F91891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D9B1F-7B17-6BA5-4350-7AE7008BF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591B3-799D-21E2-237D-9FDEFC2F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2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D039D-8CD0-A935-CA26-1E3E48703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F765C-E934-1642-72B5-F295D5C6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5DBF1E-18B6-A738-A2A1-C9ECEBAEB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61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31B81-F51A-1E5F-6A99-5DB9DB8E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1B3B-3054-AB01-295C-5E0CD4DF2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46AB3-F15D-0F4D-5A56-F9F0C731F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60C0A-927C-87DA-56BE-21502D495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FA98F-E19C-2EFF-8347-72A4E6980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B1933-4D05-E263-D01C-6060FEF07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838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5CB65-7755-769B-15DB-1F38A959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DACDA-B3C3-590A-86B7-9D6BC92D9D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8CD7E-B05A-95C7-37E2-FA90A1EF78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25BDC-087A-1EDB-9F24-1183F65AB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977E4-9020-7AD7-2473-403E7A46B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4F9BE0-147D-7EF4-8A6B-36991CD2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8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0732-22A3-64FD-C58D-9953AE790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A8301-4CA7-ABEE-9844-19B5B245F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03F88-18C5-EF1F-ADC5-251F8273C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78C60-6B97-AFCF-1BAD-453F2C223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51989-D872-155D-BBBB-7646C238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75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2CB5C-6257-61D1-3916-F0DFED98D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32F55-E205-394F-C317-F52A3A53C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CF10D-F658-9194-D6A6-6A6CADECB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D9AAE-4329-7580-758B-D93075F2B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5A38E-0C29-3034-D14E-02B9B3DD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43766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4BDA0-F083-E32D-286E-E965A32F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A3083-CB68-11EB-A911-F759CEF6A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E5B1C-D068-A8E2-0DCD-82196BFBC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D09EB4-2174-4E22-A719-410B78ECC3AC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BDBEEA-6472-A38B-24C7-D8C35ABCA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81134-3DFB-0B4B-59EB-A929032A0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828E41-9402-4B88-9471-6D9ED1DC48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8330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4AC2610-8312-0C4B-A09E-9ED4AC4794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0970577"/>
              </p:ext>
            </p:extLst>
          </p:nvPr>
        </p:nvGraphicFramePr>
        <p:xfrm>
          <a:off x="2181256" y="1405055"/>
          <a:ext cx="1854853" cy="1761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F991B27-1C0A-7F88-D1B8-00D9CBB5C0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0230558"/>
              </p:ext>
            </p:extLst>
          </p:nvPr>
        </p:nvGraphicFramePr>
        <p:xfrm>
          <a:off x="6152731" y="1114644"/>
          <a:ext cx="5075582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7CD368BC-20DF-DFC1-368C-A0E0BAEF2A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5999099"/>
              </p:ext>
            </p:extLst>
          </p:nvPr>
        </p:nvGraphicFramePr>
        <p:xfrm>
          <a:off x="1846023" y="3899926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CE07FE2-1F52-BE0A-C588-98F92CB47C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123910"/>
              </p:ext>
            </p:extLst>
          </p:nvPr>
        </p:nvGraphicFramePr>
        <p:xfrm>
          <a:off x="7182964" y="3670988"/>
          <a:ext cx="3488175" cy="20872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85272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280CD5E-79B3-FE1E-67CE-F20C547811B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9737121"/>
              </p:ext>
            </p:extLst>
          </p:nvPr>
        </p:nvGraphicFramePr>
        <p:xfrm>
          <a:off x="783956" y="1265628"/>
          <a:ext cx="10373417" cy="4464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11444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7F08B9-A0AE-092C-3140-4ED8FE9A9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856412"/>
              </p:ext>
            </p:extLst>
          </p:nvPr>
        </p:nvGraphicFramePr>
        <p:xfrm>
          <a:off x="706782" y="1395609"/>
          <a:ext cx="11056983" cy="4592235"/>
        </p:xfrm>
        <a:graphic>
          <a:graphicData uri="http://schemas.openxmlformats.org/drawingml/2006/table">
            <a:tbl>
              <a:tblPr firstRow="1" bandRow="1"/>
              <a:tblGrid>
                <a:gridCol w="3816793">
                  <a:extLst>
                    <a:ext uri="{9D8B030D-6E8A-4147-A177-3AD203B41FA5}">
                      <a16:colId xmlns:a16="http://schemas.microsoft.com/office/drawing/2014/main" val="4187839535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87452655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77574554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9257115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337428154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474504078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922948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173444560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683030759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1294197942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055703247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2883238605"/>
                    </a:ext>
                  </a:extLst>
                </a:gridCol>
                <a:gridCol w="594419">
                  <a:extLst>
                    <a:ext uri="{9D8B030D-6E8A-4147-A177-3AD203B41FA5}">
                      <a16:colId xmlns:a16="http://schemas.microsoft.com/office/drawing/2014/main" val="324126077"/>
                    </a:ext>
                  </a:extLst>
                </a:gridCol>
              </a:tblGrid>
              <a:tr h="39484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Stress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Heat Exposure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Age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Occupation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b="1" i="0" u="none" strike="noStrike" cap="none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TLC</a:t>
                      </a:r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000" b="1" i="0" u="none" strike="noStrike" cap="none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625292"/>
                  </a:ext>
                </a:extLst>
              </a:tr>
              <a:tr h="550094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concern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3AAB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High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Low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B94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Z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Millen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Gen X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Boom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F4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Non-office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CC78E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Not aware</a:t>
                      </a: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6C61">
                        <a:lumMod val="40000"/>
                        <a:lumOff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427996"/>
                  </a:ext>
                </a:extLst>
              </a:tr>
              <a:tr h="4184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lang="en-SG" sz="1000" dirty="0">
                          <a:solidFill>
                            <a:sysClr val="windowText" lastClr="000000"/>
                          </a:solidFill>
                          <a:latin typeface="Montserrat" panose="00000500000000000000" pitchFamily="2" charset="0"/>
                        </a:rPr>
                        <a:t>(n=)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r>
                        <a:rPr kumimoji="0" lang="en-SG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  <a:endParaRPr lang="en-SG" sz="10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 marL="45720" marR="4572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kumimoji="0" lang="en-IN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Montserrat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n=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925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928457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7787278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100679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658634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834092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1804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195082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783835"/>
                  </a:ext>
                </a:extLst>
              </a:tr>
              <a:tr h="358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algn="ctr"/>
                      <a:endParaRPr lang="en-SG" sz="1100" dirty="0">
                        <a:solidFill>
                          <a:sysClr val="windowText" lastClr="000000"/>
                        </a:solidFill>
                        <a:latin typeface="Montserrat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Montserrat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IN" sz="1100" b="0" i="0" u="none" strike="noStrike" kern="0" cap="none" spc="0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Montserrat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8361802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6B312AA-7E75-E3B3-8247-128085FAB0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2760157"/>
              </p:ext>
            </p:extLst>
          </p:nvPr>
        </p:nvGraphicFramePr>
        <p:xfrm>
          <a:off x="706780" y="2745920"/>
          <a:ext cx="4215416" cy="3240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29342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SPH Colours">
    <a:dk1>
      <a:srgbClr val="000000"/>
    </a:dk1>
    <a:lt1>
      <a:srgbClr val="FFFFFF"/>
    </a:lt1>
    <a:dk2>
      <a:srgbClr val="0D3AAB"/>
    </a:dk2>
    <a:lt2>
      <a:srgbClr val="E7E6E6"/>
    </a:lt2>
    <a:accent1>
      <a:srgbClr val="0D3AAB"/>
    </a:accent1>
    <a:accent2>
      <a:srgbClr val="50C7FF"/>
    </a:accent2>
    <a:accent3>
      <a:srgbClr val="FF6C61"/>
    </a:accent3>
    <a:accent4>
      <a:srgbClr val="5CC78E"/>
    </a:accent4>
    <a:accent5>
      <a:srgbClr val="FCB940"/>
    </a:accent5>
    <a:accent6>
      <a:srgbClr val="0D3AAB"/>
    </a:accent6>
    <a:hlink>
      <a:srgbClr val="50C7FF"/>
    </a:hlink>
    <a:folHlink>
      <a:srgbClr val="6E89C3"/>
    </a:folHlink>
  </a:clrScheme>
  <a:fontScheme name="Custom 3">
    <a:majorFont>
      <a:latin typeface="Montserrat"/>
      <a:ea typeface=""/>
      <a:cs typeface=""/>
    </a:majorFont>
    <a:minorFont>
      <a:latin typeface="Montserra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145</Words>
  <Application>Microsoft Office PowerPoint</Application>
  <PresentationFormat>Widescreen</PresentationFormat>
  <Paragraphs>48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Saikiran D</dc:creator>
  <cp:lastModifiedBy>Saikiran D</cp:lastModifiedBy>
  <cp:revision>4</cp:revision>
  <dcterms:created xsi:type="dcterms:W3CDTF">2026-06-25T16:07:59Z</dcterms:created>
  <dcterms:modified xsi:type="dcterms:W3CDTF">2026-06-25T16:33:07Z</dcterms:modified>
</cp:coreProperties>
</file>