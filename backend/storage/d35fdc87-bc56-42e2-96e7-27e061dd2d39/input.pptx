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2.xml" ContentType="application/vnd.openxmlformats-officedocument.themeOverr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heme/themeOverride3.xml" ContentType="application/vnd.openxmlformats-officedocument.themeOverr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theme/themeOverride4.xml" ContentType="application/vnd.openxmlformats-officedocument.themeOverr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theme/themeOverride5.xml" ContentType="application/vnd.openxmlformats-officedocument.themeOverrid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theme/themeOverride6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.xml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4.xml"/><Relationship Id="rId2" Type="http://schemas.microsoft.com/office/2011/relationships/chartColorStyle" Target="colors4.xml"/><Relationship Id="rId1" Type="http://schemas.microsoft.com/office/2011/relationships/chartStyle" Target="style4.xml"/><Relationship Id="rId4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5.xml"/><Relationship Id="rId2" Type="http://schemas.microsoft.com/office/2011/relationships/chartColorStyle" Target="colors5.xml"/><Relationship Id="rId1" Type="http://schemas.microsoft.com/office/2011/relationships/chartStyle" Target="style5.xml"/><Relationship Id="rId4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6.xml"/><Relationship Id="rId2" Type="http://schemas.microsoft.com/office/2011/relationships/chartColorStyle" Target="colors6.xml"/><Relationship Id="rId1" Type="http://schemas.microsoft.com/office/2011/relationships/chartStyle" Target="style6.xml"/><Relationship Id="rId4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dk2" tx2="lt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2.5133365836926328E-2"/>
          <c:y val="0"/>
          <c:w val="0.99989525343882502"/>
          <c:h val="1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Gender</c:v>
                </c:pt>
              </c:strCache>
            </c:strRef>
          </c:tx>
          <c:spPr>
            <a:ln w="19050">
              <a:noFill/>
            </a:ln>
          </c:spPr>
          <c:dPt>
            <c:idx val="0"/>
            <c:bubble3D val="0"/>
            <c:spPr>
              <a:solidFill>
                <a:schemeClr val="accent3">
                  <a:lumMod val="60000"/>
                  <a:lumOff val="4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DC66-4C3B-8B54-9AD0D0173232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DC66-4C3B-8B54-9AD0D0173232}"/>
              </c:ext>
            </c:extLst>
          </c:dPt>
          <c:cat>
            <c:strRef>
              <c:f>Sheet1!$A$2:$A$3</c:f>
              <c:strCache>
                <c:ptCount val="2"/>
                <c:pt idx="0">
                  <c:v>Female</c:v>
                </c:pt>
                <c:pt idx="1">
                  <c:v>Male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47</c:v>
                </c:pt>
                <c:pt idx="1">
                  <c:v>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DC66-4C3B-8B54-9AD0D017323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zero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en-US"/>
    </a:p>
  </c:txPr>
  <c:externalData r:id="rId4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dk2" tx2="lt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Age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"/>
                  <c:y val="9.4929664783618778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8C7C-447C-B5D9-DC0FE87B03D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Gen Z
(18-24)</c:v>
                </c:pt>
                <c:pt idx="1">
                  <c:v>Mil
(30-45)</c:v>
                </c:pt>
                <c:pt idx="2">
                  <c:v>Gen X
(46-60)</c:v>
                </c:pt>
                <c:pt idx="3">
                  <c:v>Boomers
(60+)</c:v>
                </c:pt>
              </c:strCache>
            </c:strRef>
          </c:cat>
          <c:val>
            <c:numRef>
              <c:f>Sheet1!$B$2:$B$5</c:f>
              <c:numCache>
                <c:formatCode>0%</c:formatCode>
                <c:ptCount val="4"/>
                <c:pt idx="0">
                  <c:v>0.1</c:v>
                </c:pt>
                <c:pt idx="1">
                  <c:v>0.52</c:v>
                </c:pt>
                <c:pt idx="2">
                  <c:v>0.25</c:v>
                </c:pt>
                <c:pt idx="3">
                  <c:v>0.13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C7C-447C-B5D9-DC0FE87B03D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4"/>
        <c:overlap val="-27"/>
        <c:axId val="167878111"/>
        <c:axId val="167866111"/>
      </c:barChart>
      <c:catAx>
        <c:axId val="16787811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  <a:ea typeface="+mn-ea"/>
                <a:cs typeface="+mn-cs"/>
              </a:defRPr>
            </a:pPr>
            <a:endParaRPr lang="en-US"/>
          </a:p>
        </c:txPr>
        <c:crossAx val="167866111"/>
        <c:crosses val="autoZero"/>
        <c:auto val="1"/>
        <c:lblAlgn val="ctr"/>
        <c:lblOffset val="100"/>
        <c:noMultiLvlLbl val="0"/>
      </c:catAx>
      <c:valAx>
        <c:axId val="167866111"/>
        <c:scaling>
          <c:orientation val="minMax"/>
          <c:max val="1"/>
        </c:scaling>
        <c:delete val="1"/>
        <c:axPos val="l"/>
        <c:numFmt formatCode="0%" sourceLinked="1"/>
        <c:majorTickMark val="out"/>
        <c:minorTickMark val="none"/>
        <c:tickLblPos val="nextTo"/>
        <c:crossAx val="16787811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dk2" tx2="lt2" accent1="accent1" accent2="accent2" accent3="accent3" accent4="accent4" accent5="accent5" accent6="accent6" hlink="hlink" folHlink="folHlink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3"/>
            </a:solidFill>
          </c:spPr>
          <c:dPt>
            <c:idx val="0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EE3B-4F9F-B357-020ACC977B6D}"/>
              </c:ext>
            </c:extLst>
          </c:dPt>
          <c:dPt>
            <c:idx val="1"/>
            <c:bubble3D val="0"/>
            <c:spPr>
              <a:solidFill>
                <a:schemeClr val="bg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EE3B-4F9F-B357-020ACC977B6D}"/>
              </c:ext>
            </c:extLst>
          </c:dPt>
          <c:dPt>
            <c:idx val="2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EE3B-4F9F-B357-020ACC977B6D}"/>
              </c:ext>
            </c:extLst>
          </c:dPt>
          <c:dPt>
            <c:idx val="3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EE3B-4F9F-B357-020ACC977B6D}"/>
              </c:ext>
            </c:extLst>
          </c:dPt>
          <c:dLbls>
            <c:dLbl>
              <c:idx val="2"/>
              <c:layout>
                <c:manualLayout>
                  <c:x val="2.3359936663319775E-2"/>
                  <c:y val="9.3098055849762426E-2"/>
                </c:manualLayout>
              </c:layout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EE3B-4F9F-B357-020ACC977B6D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EE3B-4F9F-B357-020ACC977B6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Single</c:v>
                </c:pt>
                <c:pt idx="1">
                  <c:v>Married</c:v>
                </c:pt>
                <c:pt idx="2">
                  <c:v>Divorced</c:v>
                </c:pt>
                <c:pt idx="3">
                  <c:v>Widowed</c:v>
                </c:pt>
              </c:strCache>
            </c:strRef>
          </c:cat>
          <c:val>
            <c:numRef>
              <c:f>Sheet1!$B$2:$B$5</c:f>
              <c:numCache>
                <c:formatCode>0%</c:formatCode>
                <c:ptCount val="4"/>
                <c:pt idx="0">
                  <c:v>0.24</c:v>
                </c:pt>
                <c:pt idx="1">
                  <c:v>0.73</c:v>
                </c:pt>
                <c:pt idx="2">
                  <c:v>0.03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EE3B-4F9F-B357-020ACC977B6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>
            <a:defRPr lang="en-US"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Montserrat" panose="00000500000000000000" pitchFamily="2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dk2" tx2="lt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33162019162803152"/>
          <c:y val="8.9241568045258318E-2"/>
          <c:w val="0.64185522125099814"/>
          <c:h val="0.8215168639094834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1.0923432199258065E-2"/>
                  <c:y val="6.0856096078082842E-3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spAutoFit/>
                </a:bodyPr>
                <a:lstStyle/>
                <a:p>
                  <a:pPr algn="ctr" rtl="0">
                    <a:defRPr lang="en-US" sz="900" b="1" i="0" u="none" strike="noStrike" kern="1200" baseline="0">
                      <a:solidFill>
                        <a:srgbClr val="000000"/>
                      </a:solidFill>
                      <a:latin typeface="Montserrat" panose="00000500000000000000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CE80-48BF-8029-98BB6B45693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900" b="1" i="0" u="none" strike="noStrike" kern="1200" baseline="0">
                    <a:solidFill>
                      <a:schemeClr val="bg1"/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Sheet1!$A$3:$A$5</c:f>
              <c:strCache>
                <c:ptCount val="3"/>
                <c:pt idx="0">
                  <c:v>Secondary</c:v>
                </c:pt>
                <c:pt idx="1">
                  <c:v>Tertiary</c:v>
                </c:pt>
                <c:pt idx="2">
                  <c:v>Post-grad</c:v>
                </c:pt>
              </c:strCache>
            </c:strRef>
          </c:cat>
          <c:val>
            <c:numRef>
              <c:f>Sheet1!$B$3:$B$5</c:f>
              <c:numCache>
                <c:formatCode>0%</c:formatCode>
                <c:ptCount val="3"/>
                <c:pt idx="0">
                  <c:v>0.11</c:v>
                </c:pt>
                <c:pt idx="1">
                  <c:v>0.57999999999999996</c:v>
                </c:pt>
                <c:pt idx="2">
                  <c:v>0.3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E80-48BF-8029-98BB6B45693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4"/>
        <c:axId val="167878111"/>
        <c:axId val="167866111"/>
      </c:barChart>
      <c:catAx>
        <c:axId val="167878111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  <a:ea typeface="+mn-ea"/>
                <a:cs typeface="+mn-cs"/>
              </a:defRPr>
            </a:pPr>
            <a:endParaRPr lang="en-US"/>
          </a:p>
        </c:txPr>
        <c:crossAx val="167866111"/>
        <c:crosses val="autoZero"/>
        <c:auto val="1"/>
        <c:lblAlgn val="ctr"/>
        <c:lblOffset val="100"/>
        <c:noMultiLvlLbl val="0"/>
      </c:catAx>
      <c:valAx>
        <c:axId val="167866111"/>
        <c:scaling>
          <c:orientation val="minMax"/>
        </c:scaling>
        <c:delete val="1"/>
        <c:axPos val="t"/>
        <c:numFmt formatCode="0%" sourceLinked="1"/>
        <c:majorTickMark val="out"/>
        <c:minorTickMark val="none"/>
        <c:tickLblPos val="nextTo"/>
        <c:crossAx val="16787811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dk2" tx2="lt2" accent1="accent1" accent2="accent2" accent3="accent3" accent4="accent4" accent5="accent5" accent6="accent6" hlink="hlink" folHlink="folHlink"/>
  <c:chart>
    <c:autoTitleDeleted val="1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Not concern at all</c:v>
                </c:pt>
              </c:strCache>
            </c:strRef>
          </c:tx>
          <c:spPr>
            <a:solidFill>
              <a:schemeClr val="accent3">
                <a:lumMod val="50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1"/>
              <c:layout>
                <c:manualLayout>
                  <c:x val="3.4795092522068431E-3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828B-45D4-AC8B-E1EEC48AC106}"/>
                </c:ext>
              </c:extLst>
            </c:dLbl>
            <c:dLbl>
              <c:idx val="3"/>
              <c:layout>
                <c:manualLayout>
                  <c:x val="3.4795092522068431E-3"/>
                  <c:y val="1.0848000915709343E-16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828B-45D4-AC8B-E1EEC48AC106}"/>
                </c:ext>
              </c:extLst>
            </c:dLbl>
            <c:dLbl>
              <c:idx val="4"/>
              <c:layout>
                <c:manualLayout>
                  <c:x val="3.4795092522068856E-3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828B-45D4-AC8B-E1EEC48AC106}"/>
                </c:ext>
              </c:extLst>
            </c:dLbl>
            <c:dLbl>
              <c:idx val="5"/>
              <c:layout>
                <c:manualLayout>
                  <c:x val="3.4795092522068856E-3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828B-45D4-AC8B-E1EEC48AC106}"/>
                </c:ext>
              </c:extLst>
            </c:dLbl>
            <c:dLbl>
              <c:idx val="6"/>
              <c:layout>
                <c:manualLayout>
                  <c:x val="6.9590185044137286E-3"/>
                  <c:y val="1.0848000915709343E-16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828B-45D4-AC8B-E1EEC48AC106}"/>
                </c:ext>
              </c:extLst>
            </c:dLbl>
            <c:dLbl>
              <c:idx val="10"/>
              <c:layout>
                <c:manualLayout>
                  <c:x val="2.319672834804548E-3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828B-45D4-AC8B-E1EEC48AC10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Sheet1!$A$2:$A$14</c:f>
              <c:strCache>
                <c:ptCount val="13"/>
                <c:pt idx="0">
                  <c:v>Total (n=xxxx)</c:v>
                </c:pt>
                <c:pt idx="1">
                  <c:v>Concern with heat (n=xxx)</c:v>
                </c:pt>
                <c:pt idx="2">
                  <c:v>Non-concern with heat (n=xxx)</c:v>
                </c:pt>
                <c:pt idx="3">
                  <c:v>High heat exposure (n=xxx)</c:v>
                </c:pt>
                <c:pt idx="4">
                  <c:v>Low heat exposure (n=xxx)</c:v>
                </c:pt>
                <c:pt idx="5">
                  <c:v>Gen Zs (n=285)</c:v>
                </c:pt>
                <c:pt idx="6">
                  <c:v>Milennials (n=75)</c:v>
                </c:pt>
                <c:pt idx="7">
                  <c:v>Gen Xs (n=285)</c:v>
                </c:pt>
                <c:pt idx="8">
                  <c:v>Boomers (n=285)</c:v>
                </c:pt>
                <c:pt idx="9">
                  <c:v>Office workers (n=xxx)</c:v>
                </c:pt>
                <c:pt idx="10">
                  <c:v>Non-office workers (n=xxx)</c:v>
                </c:pt>
                <c:pt idx="11">
                  <c:v>Aware TLC (n=xxx)</c:v>
                </c:pt>
                <c:pt idx="12">
                  <c:v>Not aware TLC (n=xxx)</c:v>
                </c:pt>
              </c:strCache>
            </c:strRef>
          </c:cat>
          <c:val>
            <c:numRef>
              <c:f>Sheet1!$B$2:$B$14</c:f>
              <c:numCache>
                <c:formatCode>0%</c:formatCode>
                <c:ptCount val="13"/>
                <c:pt idx="0">
                  <c:v>0.03</c:v>
                </c:pt>
                <c:pt idx="1">
                  <c:v>0.02</c:v>
                </c:pt>
                <c:pt idx="2">
                  <c:v>0.02</c:v>
                </c:pt>
                <c:pt idx="3">
                  <c:v>0.02</c:v>
                </c:pt>
                <c:pt idx="4">
                  <c:v>0.14000000000000001</c:v>
                </c:pt>
                <c:pt idx="5">
                  <c:v>0.21</c:v>
                </c:pt>
                <c:pt idx="6">
                  <c:v>0.27</c:v>
                </c:pt>
                <c:pt idx="7">
                  <c:v>0.21</c:v>
                </c:pt>
                <c:pt idx="8">
                  <c:v>0.21</c:v>
                </c:pt>
                <c:pt idx="9">
                  <c:v>0.05</c:v>
                </c:pt>
                <c:pt idx="10">
                  <c:v>0.02</c:v>
                </c:pt>
                <c:pt idx="11">
                  <c:v>0.05</c:v>
                </c:pt>
                <c:pt idx="12">
                  <c:v>0.02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828B-45D4-AC8B-E1EEC48AC10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Somewhat not concern</c:v>
                </c:pt>
              </c:strCache>
            </c:strRef>
          </c:tx>
          <c:spPr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Sheet1!$A$2:$A$14</c:f>
              <c:strCache>
                <c:ptCount val="13"/>
                <c:pt idx="0">
                  <c:v>Total (n=xxxx)</c:v>
                </c:pt>
                <c:pt idx="1">
                  <c:v>Concern with heat (n=xxx)</c:v>
                </c:pt>
                <c:pt idx="2">
                  <c:v>Non-concern with heat (n=xxx)</c:v>
                </c:pt>
                <c:pt idx="3">
                  <c:v>High heat exposure (n=xxx)</c:v>
                </c:pt>
                <c:pt idx="4">
                  <c:v>Low heat exposure (n=xxx)</c:v>
                </c:pt>
                <c:pt idx="5">
                  <c:v>Gen Zs (n=285)</c:v>
                </c:pt>
                <c:pt idx="6">
                  <c:v>Milennials (n=75)</c:v>
                </c:pt>
                <c:pt idx="7">
                  <c:v>Gen Xs (n=285)</c:v>
                </c:pt>
                <c:pt idx="8">
                  <c:v>Boomers (n=285)</c:v>
                </c:pt>
                <c:pt idx="9">
                  <c:v>Office workers (n=xxx)</c:v>
                </c:pt>
                <c:pt idx="10">
                  <c:v>Non-office workers (n=xxx)</c:v>
                </c:pt>
                <c:pt idx="11">
                  <c:v>Aware TLC (n=xxx)</c:v>
                </c:pt>
                <c:pt idx="12">
                  <c:v>Not aware TLC (n=xxx)</c:v>
                </c:pt>
              </c:strCache>
            </c:strRef>
          </c:cat>
          <c:val>
            <c:numRef>
              <c:f>Sheet1!$C$2:$C$14</c:f>
              <c:numCache>
                <c:formatCode>0%</c:formatCode>
                <c:ptCount val="13"/>
                <c:pt idx="0">
                  <c:v>0.12</c:v>
                </c:pt>
                <c:pt idx="1">
                  <c:v>0.1</c:v>
                </c:pt>
                <c:pt idx="2">
                  <c:v>0.14000000000000001</c:v>
                </c:pt>
                <c:pt idx="3">
                  <c:v>0.14000000000000001</c:v>
                </c:pt>
                <c:pt idx="4">
                  <c:v>0.25</c:v>
                </c:pt>
                <c:pt idx="5">
                  <c:v>0.28999999999999998</c:v>
                </c:pt>
                <c:pt idx="6">
                  <c:v>0.24</c:v>
                </c:pt>
                <c:pt idx="7">
                  <c:v>0.28999999999999998</c:v>
                </c:pt>
                <c:pt idx="8">
                  <c:v>0.28999999999999998</c:v>
                </c:pt>
                <c:pt idx="9">
                  <c:v>0.16</c:v>
                </c:pt>
                <c:pt idx="10">
                  <c:v>0.12</c:v>
                </c:pt>
                <c:pt idx="11">
                  <c:v>0.16</c:v>
                </c:pt>
                <c:pt idx="12">
                  <c:v>0.12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828B-45D4-AC8B-E1EEC48AC10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Neutral</c:v>
                </c:pt>
              </c:strCache>
            </c:strRef>
          </c:tx>
          <c:spPr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Sheet1!$A$2:$A$14</c:f>
              <c:strCache>
                <c:ptCount val="13"/>
                <c:pt idx="0">
                  <c:v>Total (n=xxxx)</c:v>
                </c:pt>
                <c:pt idx="1">
                  <c:v>Concern with heat (n=xxx)</c:v>
                </c:pt>
                <c:pt idx="2">
                  <c:v>Non-concern with heat (n=xxx)</c:v>
                </c:pt>
                <c:pt idx="3">
                  <c:v>High heat exposure (n=xxx)</c:v>
                </c:pt>
                <c:pt idx="4">
                  <c:v>Low heat exposure (n=xxx)</c:v>
                </c:pt>
                <c:pt idx="5">
                  <c:v>Gen Zs (n=285)</c:v>
                </c:pt>
                <c:pt idx="6">
                  <c:v>Milennials (n=75)</c:v>
                </c:pt>
                <c:pt idx="7">
                  <c:v>Gen Xs (n=285)</c:v>
                </c:pt>
                <c:pt idx="8">
                  <c:v>Boomers (n=285)</c:v>
                </c:pt>
                <c:pt idx="9">
                  <c:v>Office workers (n=xxx)</c:v>
                </c:pt>
                <c:pt idx="10">
                  <c:v>Non-office workers (n=xxx)</c:v>
                </c:pt>
                <c:pt idx="11">
                  <c:v>Aware TLC (n=xxx)</c:v>
                </c:pt>
                <c:pt idx="12">
                  <c:v>Not aware TLC (n=xxx)</c:v>
                </c:pt>
              </c:strCache>
            </c:strRef>
          </c:cat>
          <c:val>
            <c:numRef>
              <c:f>Sheet1!$D$2:$D$14</c:f>
              <c:numCache>
                <c:formatCode>0%</c:formatCode>
                <c:ptCount val="13"/>
                <c:pt idx="0">
                  <c:v>0.41</c:v>
                </c:pt>
                <c:pt idx="1">
                  <c:v>0.51</c:v>
                </c:pt>
                <c:pt idx="2">
                  <c:v>0.36</c:v>
                </c:pt>
                <c:pt idx="3">
                  <c:v>0.36</c:v>
                </c:pt>
                <c:pt idx="4">
                  <c:v>0.44</c:v>
                </c:pt>
                <c:pt idx="5">
                  <c:v>0.4</c:v>
                </c:pt>
                <c:pt idx="6">
                  <c:v>0.41</c:v>
                </c:pt>
                <c:pt idx="7">
                  <c:v>0.4</c:v>
                </c:pt>
                <c:pt idx="8">
                  <c:v>0.4</c:v>
                </c:pt>
                <c:pt idx="9">
                  <c:v>0.39</c:v>
                </c:pt>
                <c:pt idx="10">
                  <c:v>0.38</c:v>
                </c:pt>
                <c:pt idx="11">
                  <c:v>0.39</c:v>
                </c:pt>
                <c:pt idx="12">
                  <c:v>0.38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828B-45D4-AC8B-E1EEC48AC106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Somewhat concern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Sheet1!$A$2:$A$14</c:f>
              <c:strCache>
                <c:ptCount val="13"/>
                <c:pt idx="0">
                  <c:v>Total (n=xxxx)</c:v>
                </c:pt>
                <c:pt idx="1">
                  <c:v>Concern with heat (n=xxx)</c:v>
                </c:pt>
                <c:pt idx="2">
                  <c:v>Non-concern with heat (n=xxx)</c:v>
                </c:pt>
                <c:pt idx="3">
                  <c:v>High heat exposure (n=xxx)</c:v>
                </c:pt>
                <c:pt idx="4">
                  <c:v>Low heat exposure (n=xxx)</c:v>
                </c:pt>
                <c:pt idx="5">
                  <c:v>Gen Zs (n=285)</c:v>
                </c:pt>
                <c:pt idx="6">
                  <c:v>Milennials (n=75)</c:v>
                </c:pt>
                <c:pt idx="7">
                  <c:v>Gen Xs (n=285)</c:v>
                </c:pt>
                <c:pt idx="8">
                  <c:v>Boomers (n=285)</c:v>
                </c:pt>
                <c:pt idx="9">
                  <c:v>Office workers (n=xxx)</c:v>
                </c:pt>
                <c:pt idx="10">
                  <c:v>Non-office workers (n=xxx)</c:v>
                </c:pt>
                <c:pt idx="11">
                  <c:v>Aware TLC (n=xxx)</c:v>
                </c:pt>
                <c:pt idx="12">
                  <c:v>Not aware TLC (n=xxx)</c:v>
                </c:pt>
              </c:strCache>
            </c:strRef>
          </c:cat>
          <c:val>
            <c:numRef>
              <c:f>Sheet1!$E$2:$E$14</c:f>
              <c:numCache>
                <c:formatCode>0%</c:formatCode>
                <c:ptCount val="13"/>
                <c:pt idx="0">
                  <c:v>0.25</c:v>
                </c:pt>
                <c:pt idx="1">
                  <c:v>0.21</c:v>
                </c:pt>
                <c:pt idx="2">
                  <c:v>0.24</c:v>
                </c:pt>
                <c:pt idx="3">
                  <c:v>0.24</c:v>
                </c:pt>
                <c:pt idx="4">
                  <c:v>0.17</c:v>
                </c:pt>
                <c:pt idx="5">
                  <c:v>0.08</c:v>
                </c:pt>
                <c:pt idx="6">
                  <c:v>0.08</c:v>
                </c:pt>
                <c:pt idx="7">
                  <c:v>0.08</c:v>
                </c:pt>
                <c:pt idx="8">
                  <c:v>0.08</c:v>
                </c:pt>
                <c:pt idx="9">
                  <c:v>0.28999999999999998</c:v>
                </c:pt>
                <c:pt idx="10">
                  <c:v>0.25</c:v>
                </c:pt>
                <c:pt idx="11">
                  <c:v>0.28999999999999998</c:v>
                </c:pt>
                <c:pt idx="12">
                  <c:v>0.25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828B-45D4-AC8B-E1EEC48AC106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Extremely concern</c:v>
                </c:pt>
              </c:strCache>
            </c:strRef>
          </c:tx>
          <c:spPr>
            <a:solidFill>
              <a:schemeClr val="accent4">
                <a:lumMod val="5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Sheet1!$A$2:$A$14</c:f>
              <c:strCache>
                <c:ptCount val="13"/>
                <c:pt idx="0">
                  <c:v>Total (n=xxxx)</c:v>
                </c:pt>
                <c:pt idx="1">
                  <c:v>Concern with heat (n=xxx)</c:v>
                </c:pt>
                <c:pt idx="2">
                  <c:v>Non-concern with heat (n=xxx)</c:v>
                </c:pt>
                <c:pt idx="3">
                  <c:v>High heat exposure (n=xxx)</c:v>
                </c:pt>
                <c:pt idx="4">
                  <c:v>Low heat exposure (n=xxx)</c:v>
                </c:pt>
                <c:pt idx="5">
                  <c:v>Gen Zs (n=285)</c:v>
                </c:pt>
                <c:pt idx="6">
                  <c:v>Milennials (n=75)</c:v>
                </c:pt>
                <c:pt idx="7">
                  <c:v>Gen Xs (n=285)</c:v>
                </c:pt>
                <c:pt idx="8">
                  <c:v>Boomers (n=285)</c:v>
                </c:pt>
                <c:pt idx="9">
                  <c:v>Office workers (n=xxx)</c:v>
                </c:pt>
                <c:pt idx="10">
                  <c:v>Non-office workers (n=xxx)</c:v>
                </c:pt>
                <c:pt idx="11">
                  <c:v>Aware TLC (n=xxx)</c:v>
                </c:pt>
                <c:pt idx="12">
                  <c:v>Not aware TLC (n=xxx)</c:v>
                </c:pt>
              </c:strCache>
            </c:strRef>
          </c:cat>
          <c:val>
            <c:numRef>
              <c:f>Sheet1!$F$2:$F$14</c:f>
              <c:numCache>
                <c:formatCode>0%</c:formatCode>
                <c:ptCount val="13"/>
                <c:pt idx="0">
                  <c:v>0.19</c:v>
                </c:pt>
                <c:pt idx="1">
                  <c:v>0.16</c:v>
                </c:pt>
                <c:pt idx="2">
                  <c:v>0.24</c:v>
                </c:pt>
                <c:pt idx="3">
                  <c:v>0.24</c:v>
                </c:pt>
                <c:pt idx="4">
                  <c:v>0.02</c:v>
                </c:pt>
                <c:pt idx="5">
                  <c:v>0.02</c:v>
                </c:pt>
                <c:pt idx="7">
                  <c:v>0.02</c:v>
                </c:pt>
                <c:pt idx="8">
                  <c:v>0.02</c:v>
                </c:pt>
                <c:pt idx="9">
                  <c:v>0.11</c:v>
                </c:pt>
                <c:pt idx="10">
                  <c:v>0.23</c:v>
                </c:pt>
                <c:pt idx="11">
                  <c:v>0.11</c:v>
                </c:pt>
                <c:pt idx="12">
                  <c:v>0.23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828B-45D4-AC8B-E1EEC48AC106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60"/>
        <c:overlap val="100"/>
        <c:axId val="1268605760"/>
        <c:axId val="1268610080"/>
      </c:barChart>
      <c:catAx>
        <c:axId val="1268605760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68610080"/>
        <c:crosses val="autoZero"/>
        <c:auto val="1"/>
        <c:lblAlgn val="ctr"/>
        <c:lblOffset val="100"/>
        <c:noMultiLvlLbl val="0"/>
      </c:catAx>
      <c:valAx>
        <c:axId val="1268610080"/>
        <c:scaling>
          <c:orientation val="minMax"/>
        </c:scaling>
        <c:delete val="1"/>
        <c:axPos val="t"/>
        <c:numFmt formatCode="0%" sourceLinked="1"/>
        <c:majorTickMark val="none"/>
        <c:minorTickMark val="none"/>
        <c:tickLblPos val="nextTo"/>
        <c:crossAx val="126860576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"/>
          <c:y val="1.7751479289940829E-2"/>
          <c:w val="1"/>
          <c:h val="0.1167381074407119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200"/>
      </a:pPr>
      <a:endParaRPr lang="en-US"/>
    </a:p>
  </c:txPr>
  <c:externalData r:id="rId4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dk2" tx2="lt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50013045136171153"/>
          <c:y val="7.485675841592568E-3"/>
          <c:w val="0.47096541663020031"/>
          <c:h val="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00B050"/>
            </a:solidFill>
            <a:ln>
              <a:solidFill>
                <a:schemeClr val="accent3"/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B050"/>
              </a:solidFill>
              <a:ln>
                <a:solidFill>
                  <a:schemeClr val="accent3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B377-41D7-9732-CB3299D4B804}"/>
              </c:ext>
            </c:extLst>
          </c:dPt>
          <c:dPt>
            <c:idx val="1"/>
            <c:invertIfNegative val="0"/>
            <c:bubble3D val="0"/>
            <c:spPr>
              <a:solidFill>
                <a:srgbClr val="00B050"/>
              </a:solidFill>
              <a:ln>
                <a:solidFill>
                  <a:schemeClr val="accent3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B377-41D7-9732-CB3299D4B804}"/>
              </c:ext>
            </c:extLst>
          </c:dPt>
          <c:dPt>
            <c:idx val="2"/>
            <c:invertIfNegative val="0"/>
            <c:bubble3D val="0"/>
            <c:spPr>
              <a:solidFill>
                <a:srgbClr val="00B050"/>
              </a:solidFill>
              <a:ln>
                <a:solidFill>
                  <a:schemeClr val="accent3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B377-41D7-9732-CB3299D4B804}"/>
              </c:ext>
            </c:extLst>
          </c:dPt>
          <c:dPt>
            <c:idx val="3"/>
            <c:invertIfNegative val="0"/>
            <c:bubble3D val="0"/>
            <c:spPr>
              <a:solidFill>
                <a:srgbClr val="00B050"/>
              </a:solidFill>
              <a:ln>
                <a:solidFill>
                  <a:schemeClr val="accent3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B377-41D7-9732-CB3299D4B804}"/>
              </c:ext>
            </c:extLst>
          </c:dPt>
          <c:dPt>
            <c:idx val="4"/>
            <c:invertIfNegative val="0"/>
            <c:bubble3D val="0"/>
            <c:spPr>
              <a:solidFill>
                <a:srgbClr val="00B050"/>
              </a:solidFill>
              <a:ln>
                <a:solidFill>
                  <a:schemeClr val="accent3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B377-41D7-9732-CB3299D4B804}"/>
              </c:ext>
            </c:extLst>
          </c:dPt>
          <c:dPt>
            <c:idx val="5"/>
            <c:invertIfNegative val="0"/>
            <c:bubble3D val="0"/>
            <c:spPr>
              <a:solidFill>
                <a:srgbClr val="00B050"/>
              </a:solidFill>
              <a:ln>
                <a:solidFill>
                  <a:schemeClr val="accent3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B377-41D7-9732-CB3299D4B804}"/>
              </c:ext>
            </c:extLst>
          </c:dPt>
          <c:dPt>
            <c:idx val="6"/>
            <c:invertIfNegative val="0"/>
            <c:bubble3D val="0"/>
            <c:spPr>
              <a:solidFill>
                <a:srgbClr val="00B050"/>
              </a:solidFill>
              <a:ln>
                <a:solidFill>
                  <a:schemeClr val="accent3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D-B377-41D7-9732-CB3299D4B804}"/>
              </c:ext>
            </c:extLst>
          </c:dPt>
          <c:dPt>
            <c:idx val="7"/>
            <c:invertIfNegative val="0"/>
            <c:bubble3D val="0"/>
            <c:spPr>
              <a:solidFill>
                <a:srgbClr val="00B050"/>
              </a:solidFill>
              <a:ln>
                <a:solidFill>
                  <a:schemeClr val="accent3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F-B377-41D7-9732-CB3299D4B804}"/>
              </c:ext>
            </c:extLst>
          </c:dPt>
          <c:dPt>
            <c:idx val="8"/>
            <c:invertIfNegative val="0"/>
            <c:bubble3D val="0"/>
            <c:spPr>
              <a:solidFill>
                <a:srgbClr val="00B050"/>
              </a:solidFill>
              <a:ln>
                <a:solidFill>
                  <a:schemeClr val="accent3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1-B377-41D7-9732-CB3299D4B804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tx1"/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Sheet1!$A$2:$A$10</c:f>
              <c:strCache>
                <c:ptCount val="9"/>
                <c:pt idx="0">
                  <c:v>A Statement</c:v>
                </c:pt>
                <c:pt idx="1">
                  <c:v>B Statement</c:v>
                </c:pt>
                <c:pt idx="2">
                  <c:v>C Statement</c:v>
                </c:pt>
                <c:pt idx="3">
                  <c:v>D Statement</c:v>
                </c:pt>
                <c:pt idx="4">
                  <c:v>E Statement</c:v>
                </c:pt>
                <c:pt idx="5">
                  <c:v>F Statement</c:v>
                </c:pt>
                <c:pt idx="6">
                  <c:v>G Statement</c:v>
                </c:pt>
                <c:pt idx="7">
                  <c:v>H Statement</c:v>
                </c:pt>
                <c:pt idx="8">
                  <c:v>I Statement</c:v>
                </c:pt>
              </c:strCache>
            </c:strRef>
          </c:cat>
          <c:val>
            <c:numRef>
              <c:f>Sheet1!$B$2:$B$10</c:f>
              <c:numCache>
                <c:formatCode>0%</c:formatCode>
                <c:ptCount val="9"/>
                <c:pt idx="0">
                  <c:v>0.45</c:v>
                </c:pt>
                <c:pt idx="1">
                  <c:v>0.43</c:v>
                </c:pt>
                <c:pt idx="2">
                  <c:v>0.42</c:v>
                </c:pt>
                <c:pt idx="3">
                  <c:v>0.37</c:v>
                </c:pt>
                <c:pt idx="4">
                  <c:v>0.36</c:v>
                </c:pt>
                <c:pt idx="5">
                  <c:v>0.35</c:v>
                </c:pt>
                <c:pt idx="6">
                  <c:v>0.34</c:v>
                </c:pt>
                <c:pt idx="7">
                  <c:v>0.28999999999999998</c:v>
                </c:pt>
                <c:pt idx="8">
                  <c:v>0.28999999999999998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B377-41D7-9732-CB3299D4B804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73"/>
        <c:axId val="463209040"/>
        <c:axId val="463209520"/>
      </c:barChart>
      <c:catAx>
        <c:axId val="463209040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r">
              <a:defRPr sz="1000" b="0" i="0" u="none" strike="noStrike" kern="1200" baseline="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pPr>
            <a:endParaRPr lang="en-US"/>
          </a:p>
        </c:txPr>
        <c:crossAx val="463209520"/>
        <c:crosses val="autoZero"/>
        <c:auto val="1"/>
        <c:lblAlgn val="ctr"/>
        <c:lblOffset val="100"/>
        <c:noMultiLvlLbl val="0"/>
      </c:catAx>
      <c:valAx>
        <c:axId val="463209520"/>
        <c:scaling>
          <c:orientation val="minMax"/>
          <c:max val="1"/>
        </c:scaling>
        <c:delete val="1"/>
        <c:axPos val="t"/>
        <c:numFmt formatCode="0%" sourceLinked="1"/>
        <c:majorTickMark val="out"/>
        <c:minorTickMark val="none"/>
        <c:tickLblPos val="nextTo"/>
        <c:crossAx val="46320904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87224A-EB8C-5EDA-BCF3-69E0B94CBA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C6459D-A483-55F9-177E-215ED458B7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B34A26-2C4E-5BCE-71BE-774E5A4976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09EB4-2174-4E22-A719-410B78ECC3AC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D35D81-6110-FB08-7B68-6D56C8C68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381A3F-24B4-B21D-0B9F-55CE9A6F9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28E41-9402-4B88-9471-6D9ED1DC48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34248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BA409-A707-282D-782B-9160DE4FE2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9BAAB2-7363-658B-EEC9-B55B7FF9F8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2F87BE-36B8-6FC9-2D6E-DCD36037FE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09EB4-2174-4E22-A719-410B78ECC3AC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25427E-E7E3-A121-5E84-F4B6EA0CE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584B68-A862-2DDA-1270-89ADEF449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28E41-9402-4B88-9471-6D9ED1DC48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05487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3C0C4-9311-570D-3F90-2C4102FB98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B036C6-AEC2-5323-0A88-B962DEB8F3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FD2F70-5B0C-CD64-91B1-83F68C359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09EB4-2174-4E22-A719-410B78ECC3AC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A29082-52E8-98E0-A0B4-ABEE10D4F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8B8FEC-AFD4-F262-CCEF-FB58FA398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28E41-9402-4B88-9471-6D9ED1DC48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50963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7D836-A005-B3C7-08B0-7A1B43C64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EDCDF8-D7CA-E7C9-B0FA-CF5395F3B8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3F44FA-0695-AAB9-8351-70D2463051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9E3AAE-7771-EE0A-F869-CE8EBB77AB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09EB4-2174-4E22-A719-410B78ECC3AC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7AB149-4420-F7D8-52AE-C6E8B34AD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9A56BD-98D0-0458-F2DA-2E17CCCEF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28E41-9402-4B88-9471-6D9ED1DC48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8597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934AB-6329-BEDD-D455-9BA55809F4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1E0FC7-5C76-5617-652D-00355F6D60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E90E84-2C90-F71E-74EA-63D4968CE1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7A9855-FE63-561E-17C4-5262E89F43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34ECB82-D8DC-24C4-6E53-FE4984C04D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933375-E7A7-3B3B-DFAE-A363FE5269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09EB4-2174-4E22-A719-410B78ECC3AC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A00F64D-6D9C-66BF-6BED-771739A15A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9C80D42-F5F2-BFA5-5EFE-74A6D33D61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28E41-9402-4B88-9471-6D9ED1DC48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5869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016CC4-D211-4C10-D01F-6E0A3881F3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3A27EF-CAFB-BF3C-9DCA-177F91891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09EB4-2174-4E22-A719-410B78ECC3AC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3D9B1F-7B17-6BA5-4350-7AE7008BF4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0591B3-799D-21E2-237D-9FDEFC2FE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28E41-9402-4B88-9471-6D9ED1DC48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86253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55D039D-8CD0-A935-CA26-1E3E48703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09EB4-2174-4E22-A719-410B78ECC3AC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5CF765C-E934-1642-72B5-F295D5C62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5DBF1E-18B6-A738-A2A1-C9ECEBAEB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28E41-9402-4B88-9471-6D9ED1DC48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56114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D31B81-F51A-1E5F-6A99-5DB9DB8E86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591B3B-3054-AB01-295C-5E0CD4DF23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846AB3-F15D-0F4D-5A56-F9F0C731FB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760C0A-927C-87DA-56BE-21502D495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09EB4-2174-4E22-A719-410B78ECC3AC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FFA98F-E19C-2EFF-8347-72A4E6980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1B1933-4D05-E263-D01C-6060FEF07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28E41-9402-4B88-9471-6D9ED1DC48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18384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E5CB65-7755-769B-15DB-1F38A959E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EDACDA-B3C3-590A-86B7-9D6BC92D9D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D8CD7E-B05A-95C7-37E2-FA90A1EF78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E25BDC-087A-1EDB-9F24-1183F65AB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09EB4-2174-4E22-A719-410B78ECC3AC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0977E4-9020-7AD7-2473-403E7A46BB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4F9BE0-147D-7EF4-8A6B-36991CD23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28E41-9402-4B88-9471-6D9ED1DC48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08057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720732-22A3-64FD-C58D-9953AE790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2A8301-4CA7-ABEE-9844-19B5B245F7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C03F88-18C5-EF1F-ADC5-251F8273C1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09EB4-2174-4E22-A719-410B78ECC3AC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978C60-6B97-AFCF-1BAD-453F2C2230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B51989-D872-155D-BBBB-7646C2381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28E41-9402-4B88-9471-6D9ED1DC48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47553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D72CB5C-6257-61D1-3916-F0DFED98D3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B32F55-E205-394F-C317-F52A3A53C9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BCF10D-F658-9194-D6A6-6A6CADECB0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09EB4-2174-4E22-A719-410B78ECC3AC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FD9AAE-4329-7580-758B-D93075F2B5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B5A38E-0C29-3034-D14E-02B9B3DDF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28E41-9402-4B88-9471-6D9ED1DC48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43766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444BDA0-F083-E32D-286E-E965A32F11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9A3083-CB68-11EB-A911-F759CEF6A7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9E5B1C-D068-A8E2-0DCD-82196BFBCF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D09EB4-2174-4E22-A719-410B78ECC3AC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BDBEEA-6472-A38B-24C7-D8C35ABCA8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881134-3DFB-0B4B-59EB-A929032A01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828E41-9402-4B88-9471-6D9ED1DC48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83306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04AC2610-8312-0C4B-A09E-9ED4AC47949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80970577"/>
              </p:ext>
            </p:extLst>
          </p:nvPr>
        </p:nvGraphicFramePr>
        <p:xfrm>
          <a:off x="2181256" y="1405055"/>
          <a:ext cx="1854853" cy="17614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6CB5DCF2-6B0B-16BF-A291-F491E028709F}"/>
              </a:ext>
            </a:extLst>
          </p:cNvPr>
          <p:cNvSpPr/>
          <p:nvPr/>
        </p:nvSpPr>
        <p:spPr>
          <a:xfrm>
            <a:off x="2276817" y="1687089"/>
            <a:ext cx="1715079" cy="1290427"/>
          </a:xfrm>
          <a:prstGeom prst="rect">
            <a:avLst/>
          </a:prstGeom>
          <a:solidFill>
            <a:srgbClr val="0D3AAB"/>
          </a:solidFill>
          <a:ln w="25400" cap="flat" cmpd="sng" algn="ctr">
            <a:solidFill>
              <a:srgbClr val="0D3AAB">
                <a:shade val="15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lvl="0" algn="ctr">
              <a:defRPr/>
            </a:pPr>
            <a:r>
              <a:rPr lang="en-SG" kern="0" dirty="0">
                <a:solidFill>
                  <a:srgbClr val="FFFFFF"/>
                </a:solidFill>
                <a:latin typeface="Montserrat"/>
              </a:rPr>
              <a:t>{Data} - Table_1, </a:t>
            </a:r>
            <a:r>
              <a:rPr kumimoji="0" lang="en-SG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S1, Column - Total</a:t>
            </a:r>
          </a:p>
        </p:txBody>
      </p:sp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2F991B27-1C0A-7F88-D1B8-00D9CBB5C00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80230558"/>
              </p:ext>
            </p:extLst>
          </p:nvPr>
        </p:nvGraphicFramePr>
        <p:xfrm>
          <a:off x="6152731" y="1114644"/>
          <a:ext cx="5075582" cy="20872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Rectangle 10">
            <a:extLst>
              <a:ext uri="{FF2B5EF4-FFF2-40B4-BE49-F238E27FC236}">
                <a16:creationId xmlns:a16="http://schemas.microsoft.com/office/drawing/2014/main" id="{405BCAC3-5528-76F2-4F9C-2FFA9864619D}"/>
              </a:ext>
            </a:extLst>
          </p:cNvPr>
          <p:cNvSpPr/>
          <p:nvPr/>
        </p:nvSpPr>
        <p:spPr>
          <a:xfrm>
            <a:off x="8002434" y="1583769"/>
            <a:ext cx="1856095" cy="1290427"/>
          </a:xfrm>
          <a:prstGeom prst="rect">
            <a:avLst/>
          </a:prstGeom>
          <a:solidFill>
            <a:srgbClr val="0D3AAB"/>
          </a:solidFill>
          <a:ln w="25400" cap="flat" cmpd="sng" algn="ctr">
            <a:solidFill>
              <a:srgbClr val="0D3AAB">
                <a:shade val="15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lvl="0" algn="ctr">
              <a:defRPr/>
            </a:pPr>
            <a:r>
              <a:rPr lang="en-SG" kern="0" dirty="0">
                <a:solidFill>
                  <a:srgbClr val="FFFFFF"/>
                </a:solidFill>
                <a:latin typeface="Montserrat"/>
              </a:rPr>
              <a:t>{Data} - </a:t>
            </a:r>
            <a:r>
              <a:rPr lang="en-SG" kern="0">
                <a:solidFill>
                  <a:srgbClr val="FFFFFF"/>
                </a:solidFill>
                <a:latin typeface="Montserrat"/>
              </a:rPr>
              <a:t>Table_2, </a:t>
            </a:r>
            <a:r>
              <a:rPr lang="en-SG" kern="0" dirty="0">
                <a:solidFill>
                  <a:srgbClr val="FFFFFF"/>
                </a:solidFill>
                <a:latin typeface="Montserrat"/>
              </a:rPr>
              <a:t>S2, Column - Total</a:t>
            </a:r>
          </a:p>
        </p:txBody>
      </p:sp>
      <p:graphicFrame>
        <p:nvGraphicFramePr>
          <p:cNvPr id="14" name="Chart 13">
            <a:extLst>
              <a:ext uri="{FF2B5EF4-FFF2-40B4-BE49-F238E27FC236}">
                <a16:creationId xmlns:a16="http://schemas.microsoft.com/office/drawing/2014/main" id="{7CD368BC-20DF-DFC1-368C-A0E0BAEF2AB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55999099"/>
              </p:ext>
            </p:extLst>
          </p:nvPr>
        </p:nvGraphicFramePr>
        <p:xfrm>
          <a:off x="1846023" y="3899926"/>
          <a:ext cx="3488175" cy="20872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5" name="Rectangle 14">
            <a:extLst>
              <a:ext uri="{FF2B5EF4-FFF2-40B4-BE49-F238E27FC236}">
                <a16:creationId xmlns:a16="http://schemas.microsoft.com/office/drawing/2014/main" id="{4B2E1B4A-E9F8-B79B-A692-39073D2D69E4}"/>
              </a:ext>
            </a:extLst>
          </p:cNvPr>
          <p:cNvSpPr/>
          <p:nvPr/>
        </p:nvSpPr>
        <p:spPr>
          <a:xfrm>
            <a:off x="2842570" y="4331597"/>
            <a:ext cx="1267738" cy="1290427"/>
          </a:xfrm>
          <a:prstGeom prst="rect">
            <a:avLst/>
          </a:prstGeom>
          <a:solidFill>
            <a:srgbClr val="0D3AAB"/>
          </a:solidFill>
          <a:ln w="25400" cap="flat" cmpd="sng" algn="ctr">
            <a:solidFill>
              <a:srgbClr val="0D3AAB">
                <a:shade val="15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lvl="0" algn="ctr">
              <a:defRPr/>
            </a:pPr>
            <a:r>
              <a:rPr lang="en-SG" kern="0" dirty="0">
                <a:solidFill>
                  <a:srgbClr val="FFFFFF"/>
                </a:solidFill>
                <a:latin typeface="Montserrat"/>
              </a:rPr>
              <a:t>{Data} - Table_3, MY, Column - Total</a:t>
            </a:r>
          </a:p>
        </p:txBody>
      </p:sp>
      <p:graphicFrame>
        <p:nvGraphicFramePr>
          <p:cNvPr id="18" name="Chart 17">
            <a:extLst>
              <a:ext uri="{FF2B5EF4-FFF2-40B4-BE49-F238E27FC236}">
                <a16:creationId xmlns:a16="http://schemas.microsoft.com/office/drawing/2014/main" id="{DCE07FE2-1F52-BE0A-C588-98F92CB47C9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5123910"/>
              </p:ext>
            </p:extLst>
          </p:nvPr>
        </p:nvGraphicFramePr>
        <p:xfrm>
          <a:off x="7182964" y="3670988"/>
          <a:ext cx="3488175" cy="20872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9" name="Rectangle 18">
            <a:extLst>
              <a:ext uri="{FF2B5EF4-FFF2-40B4-BE49-F238E27FC236}">
                <a16:creationId xmlns:a16="http://schemas.microsoft.com/office/drawing/2014/main" id="{A9F2FE85-3D67-E31B-DA74-403FF2B6018E}"/>
              </a:ext>
            </a:extLst>
          </p:cNvPr>
          <p:cNvSpPr/>
          <p:nvPr/>
        </p:nvSpPr>
        <p:spPr>
          <a:xfrm>
            <a:off x="8275497" y="4100274"/>
            <a:ext cx="1267738" cy="1290427"/>
          </a:xfrm>
          <a:prstGeom prst="rect">
            <a:avLst/>
          </a:prstGeom>
          <a:solidFill>
            <a:srgbClr val="0D3AAB"/>
          </a:solidFill>
          <a:ln w="25400" cap="flat" cmpd="sng" algn="ctr">
            <a:solidFill>
              <a:srgbClr val="0D3AAB">
                <a:shade val="15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lvl="0" algn="ctr">
              <a:defRPr/>
            </a:pPr>
            <a:r>
              <a:rPr lang="en-SG" kern="0" dirty="0">
                <a:solidFill>
                  <a:srgbClr val="FFFFFF"/>
                </a:solidFill>
                <a:latin typeface="Montserrat"/>
              </a:rPr>
              <a:t>{Data} - Table_4</a:t>
            </a:r>
            <a:r>
              <a:rPr lang="en-SG" kern="0">
                <a:solidFill>
                  <a:srgbClr val="FFFFFF"/>
                </a:solidFill>
                <a:latin typeface="Montserrat"/>
              </a:rPr>
              <a:t>, E5, </a:t>
            </a:r>
            <a:r>
              <a:rPr lang="en-SG" kern="0" dirty="0">
                <a:solidFill>
                  <a:srgbClr val="FFFFFF"/>
                </a:solidFill>
                <a:latin typeface="Montserrat"/>
              </a:rPr>
              <a:t>Column - Total</a:t>
            </a:r>
          </a:p>
        </p:txBody>
      </p:sp>
    </p:spTree>
    <p:extLst>
      <p:ext uri="{BB962C8B-B14F-4D97-AF65-F5344CB8AC3E}">
        <p14:creationId xmlns:p14="http://schemas.microsoft.com/office/powerpoint/2010/main" val="32852724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8280CD5E-79B3-FE1E-67CE-F20C547811B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49737121"/>
              </p:ext>
            </p:extLst>
          </p:nvPr>
        </p:nvGraphicFramePr>
        <p:xfrm>
          <a:off x="783956" y="1265628"/>
          <a:ext cx="10373417" cy="446404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3" name="Rectangle 12">
            <a:extLst>
              <a:ext uri="{FF2B5EF4-FFF2-40B4-BE49-F238E27FC236}">
                <a16:creationId xmlns:a16="http://schemas.microsoft.com/office/drawing/2014/main" id="{1D9FE5F8-080E-85CF-EDFF-5E42FC943C85}"/>
              </a:ext>
            </a:extLst>
          </p:cNvPr>
          <p:cNvSpPr/>
          <p:nvPr/>
        </p:nvSpPr>
        <p:spPr>
          <a:xfrm>
            <a:off x="6031416" y="35881"/>
            <a:ext cx="5178391" cy="1290427"/>
          </a:xfrm>
          <a:prstGeom prst="rect">
            <a:avLst/>
          </a:prstGeom>
          <a:solidFill>
            <a:srgbClr val="0D3AAB"/>
          </a:solidFill>
          <a:ln w="25400" cap="flat" cmpd="sng" algn="ctr">
            <a:solidFill>
              <a:srgbClr val="0D3AAB">
                <a:shade val="15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en-SG" kern="0" dirty="0">
                <a:solidFill>
                  <a:srgbClr val="FFFFFF"/>
                </a:solidFill>
                <a:latin typeface="Montserrat"/>
              </a:rPr>
              <a:t>{Data} - Table_9, </a:t>
            </a:r>
            <a:r>
              <a:rPr kumimoji="0" lang="en-SG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A1</a:t>
            </a:r>
          </a:p>
        </p:txBody>
      </p:sp>
    </p:spTree>
    <p:extLst>
      <p:ext uri="{BB962C8B-B14F-4D97-AF65-F5344CB8AC3E}">
        <p14:creationId xmlns:p14="http://schemas.microsoft.com/office/powerpoint/2010/main" val="8114445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87F08B9-A0AE-092C-3140-4ED8FE9A9A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6856412"/>
              </p:ext>
            </p:extLst>
          </p:nvPr>
        </p:nvGraphicFramePr>
        <p:xfrm>
          <a:off x="706782" y="1395609"/>
          <a:ext cx="11056983" cy="4592235"/>
        </p:xfrm>
        <a:graphic>
          <a:graphicData uri="http://schemas.openxmlformats.org/drawingml/2006/table">
            <a:tbl>
              <a:tblPr firstRow="1" bandRow="1"/>
              <a:tblGrid>
                <a:gridCol w="3816793">
                  <a:extLst>
                    <a:ext uri="{9D8B030D-6E8A-4147-A177-3AD203B41FA5}">
                      <a16:colId xmlns:a16="http://schemas.microsoft.com/office/drawing/2014/main" val="4187839535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3874526551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3775745548"/>
                    </a:ext>
                  </a:extLst>
                </a:gridCol>
                <a:gridCol w="594419">
                  <a:extLst>
                    <a:ext uri="{9D8B030D-6E8A-4147-A177-3AD203B41FA5}">
                      <a16:colId xmlns:a16="http://schemas.microsoft.com/office/drawing/2014/main" val="3925711559"/>
                    </a:ext>
                  </a:extLst>
                </a:gridCol>
                <a:gridCol w="594419">
                  <a:extLst>
                    <a:ext uri="{9D8B030D-6E8A-4147-A177-3AD203B41FA5}">
                      <a16:colId xmlns:a16="http://schemas.microsoft.com/office/drawing/2014/main" val="2337428154"/>
                    </a:ext>
                  </a:extLst>
                </a:gridCol>
                <a:gridCol w="594419">
                  <a:extLst>
                    <a:ext uri="{9D8B030D-6E8A-4147-A177-3AD203B41FA5}">
                      <a16:colId xmlns:a16="http://schemas.microsoft.com/office/drawing/2014/main" val="2474504078"/>
                    </a:ext>
                  </a:extLst>
                </a:gridCol>
                <a:gridCol w="594419">
                  <a:extLst>
                    <a:ext uri="{9D8B030D-6E8A-4147-A177-3AD203B41FA5}">
                      <a16:colId xmlns:a16="http://schemas.microsoft.com/office/drawing/2014/main" val="1922948942"/>
                    </a:ext>
                  </a:extLst>
                </a:gridCol>
                <a:gridCol w="594419">
                  <a:extLst>
                    <a:ext uri="{9D8B030D-6E8A-4147-A177-3AD203B41FA5}">
                      <a16:colId xmlns:a16="http://schemas.microsoft.com/office/drawing/2014/main" val="3173444560"/>
                    </a:ext>
                  </a:extLst>
                </a:gridCol>
                <a:gridCol w="594419">
                  <a:extLst>
                    <a:ext uri="{9D8B030D-6E8A-4147-A177-3AD203B41FA5}">
                      <a16:colId xmlns:a16="http://schemas.microsoft.com/office/drawing/2014/main" val="683030759"/>
                    </a:ext>
                  </a:extLst>
                </a:gridCol>
                <a:gridCol w="594419">
                  <a:extLst>
                    <a:ext uri="{9D8B030D-6E8A-4147-A177-3AD203B41FA5}">
                      <a16:colId xmlns:a16="http://schemas.microsoft.com/office/drawing/2014/main" val="1294197942"/>
                    </a:ext>
                  </a:extLst>
                </a:gridCol>
                <a:gridCol w="594419">
                  <a:extLst>
                    <a:ext uri="{9D8B030D-6E8A-4147-A177-3AD203B41FA5}">
                      <a16:colId xmlns:a16="http://schemas.microsoft.com/office/drawing/2014/main" val="2055703247"/>
                    </a:ext>
                  </a:extLst>
                </a:gridCol>
                <a:gridCol w="594419">
                  <a:extLst>
                    <a:ext uri="{9D8B030D-6E8A-4147-A177-3AD203B41FA5}">
                      <a16:colId xmlns:a16="http://schemas.microsoft.com/office/drawing/2014/main" val="2883238605"/>
                    </a:ext>
                  </a:extLst>
                </a:gridCol>
                <a:gridCol w="594419">
                  <a:extLst>
                    <a:ext uri="{9D8B030D-6E8A-4147-A177-3AD203B41FA5}">
                      <a16:colId xmlns:a16="http://schemas.microsoft.com/office/drawing/2014/main" val="324126077"/>
                    </a:ext>
                  </a:extLst>
                </a:gridCol>
              </a:tblGrid>
              <a:tr h="394846"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9pPr>
                    </a:lstStyle>
                    <a:p>
                      <a:pPr algn="ctr"/>
                      <a:r>
                        <a:rPr lang="en-SG" sz="1000" dirty="0">
                          <a:solidFill>
                            <a:sysClr val="windowText" lastClr="000000"/>
                          </a:solidFill>
                          <a:latin typeface="Montserrat" panose="00000500000000000000" pitchFamily="2" charset="0"/>
                        </a:rPr>
                        <a:t>Total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9pPr>
                    </a:lstStyle>
                    <a:p>
                      <a:pPr algn="ctr"/>
                      <a:r>
                        <a:rPr lang="en-SG" sz="1000" dirty="0">
                          <a:solidFill>
                            <a:sysClr val="windowText" lastClr="000000"/>
                          </a:solidFill>
                          <a:latin typeface="Montserrat" panose="00000500000000000000" pitchFamily="2" charset="0"/>
                        </a:rPr>
                        <a:t>Heat Stress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D3AAB">
                        <a:lumMod val="20000"/>
                        <a:lumOff val="8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SG" sz="1000" dirty="0">
                        <a:solidFill>
                          <a:sysClr val="windowText" lastClr="000000"/>
                        </a:solidFill>
                        <a:latin typeface="Montserrat" panose="00000500000000000000" pitchFamily="2" charset="0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9pPr>
                    </a:lstStyle>
                    <a:p>
                      <a:pPr algn="ctr"/>
                      <a:r>
                        <a:rPr lang="en-SG" sz="1000" dirty="0">
                          <a:solidFill>
                            <a:sysClr val="windowText" lastClr="000000"/>
                          </a:solidFill>
                          <a:latin typeface="Montserrat" panose="00000500000000000000" pitchFamily="2" charset="0"/>
                        </a:rPr>
                        <a:t>Heat Exposure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B940">
                        <a:lumMod val="60000"/>
                        <a:lumOff val="4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SG" sz="1000" dirty="0">
                        <a:solidFill>
                          <a:sysClr val="windowText" lastClr="000000"/>
                        </a:solidFill>
                        <a:latin typeface="Montserrat" panose="00000500000000000000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gridSpan="4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9pPr>
                    </a:lstStyle>
                    <a:p>
                      <a:pPr algn="ctr"/>
                      <a:r>
                        <a:rPr lang="en-SG" sz="1000" dirty="0">
                          <a:solidFill>
                            <a:sysClr val="windowText" lastClr="000000"/>
                          </a:solidFill>
                          <a:latin typeface="Montserrat" panose="00000500000000000000" pitchFamily="2" charset="0"/>
                        </a:rPr>
                        <a:t>Age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F4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SG" sz="1000" dirty="0">
                        <a:solidFill>
                          <a:sysClr val="windowText" lastClr="000000"/>
                        </a:solidFill>
                        <a:latin typeface="Montserrat" panose="00000500000000000000" pitchFamily="2" charset="0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SG" sz="1000" dirty="0">
                        <a:solidFill>
                          <a:sysClr val="windowText" lastClr="000000"/>
                        </a:solidFill>
                        <a:latin typeface="Montserrat" panose="00000500000000000000" pitchFamily="2" charset="0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9pPr>
                    </a:lstStyle>
                    <a:p>
                      <a:pPr algn="ctr"/>
                      <a:r>
                        <a:rPr lang="en-SG" sz="1000" b="1" i="0" u="none" strike="noStrike" cap="none" dirty="0">
                          <a:solidFill>
                            <a:sysClr val="windowText" lastClr="000000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  <a:sym typeface="Arial"/>
                        </a:rPr>
                        <a:t>Occupation</a:t>
                      </a:r>
                      <a:endParaRPr sz="1000" b="1" i="0" u="none" strike="noStrike" cap="none" dirty="0">
                        <a:solidFill>
                          <a:sysClr val="windowText" lastClr="000000"/>
                        </a:solidFill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CC78E">
                        <a:lumMod val="40000"/>
                        <a:lumOff val="6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SG" sz="1000" dirty="0">
                        <a:solidFill>
                          <a:sysClr val="windowText" lastClr="000000"/>
                        </a:solidFill>
                        <a:latin typeface="Montserrat" panose="00000500000000000000" pitchFamily="2" charset="0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9pPr>
                    </a:lstStyle>
                    <a:p>
                      <a:pPr algn="ctr"/>
                      <a:r>
                        <a:rPr lang="en-SG" sz="1000" b="1" i="0" u="none" strike="noStrike" cap="none" dirty="0">
                          <a:solidFill>
                            <a:sysClr val="windowText" lastClr="000000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  <a:sym typeface="Arial"/>
                        </a:rPr>
                        <a:t>TLC</a:t>
                      </a:r>
                      <a:endParaRPr sz="1000" b="1" i="0" u="none" strike="noStrike" cap="none" dirty="0">
                        <a:solidFill>
                          <a:sysClr val="windowText" lastClr="000000"/>
                        </a:solidFill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6C61">
                        <a:lumMod val="40000"/>
                        <a:lumOff val="6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sz="1000" b="1" i="0" u="none" strike="noStrike" cap="none" dirty="0">
                        <a:solidFill>
                          <a:sysClr val="windowText" lastClr="000000"/>
                        </a:solidFill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9625292"/>
                  </a:ext>
                </a:extLst>
              </a:tr>
              <a:tr h="550094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algn="ctr"/>
                      <a:r>
                        <a:rPr lang="en-SG" sz="1000" dirty="0">
                          <a:solidFill>
                            <a:sysClr val="windowText" lastClr="000000"/>
                          </a:solidFill>
                          <a:latin typeface="Montserrat" panose="00000500000000000000" pitchFamily="2" charset="0"/>
                        </a:rPr>
                        <a:t>Concern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D3AAB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algn="ctr"/>
                      <a:r>
                        <a:rPr lang="en-SG" sz="1000" dirty="0">
                          <a:solidFill>
                            <a:sysClr val="windowText" lastClr="000000"/>
                          </a:solidFill>
                          <a:latin typeface="Montserrat" panose="00000500000000000000" pitchFamily="2" charset="0"/>
                        </a:rPr>
                        <a:t>Not concern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D3AAB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algn="ctr"/>
                      <a:r>
                        <a:rPr lang="en-SG" sz="1000" dirty="0">
                          <a:solidFill>
                            <a:sysClr val="windowText" lastClr="000000"/>
                          </a:solidFill>
                          <a:latin typeface="Montserrat" panose="00000500000000000000" pitchFamily="2" charset="0"/>
                        </a:rPr>
                        <a:t>High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B940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algn="ctr"/>
                      <a:r>
                        <a:rPr lang="en-SG" sz="1000" dirty="0">
                          <a:solidFill>
                            <a:sysClr val="windowText" lastClr="000000"/>
                          </a:solidFill>
                          <a:latin typeface="Montserrat" panose="00000500000000000000" pitchFamily="2" charset="0"/>
                        </a:rPr>
                        <a:t>Low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B940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algn="ctr"/>
                      <a:r>
                        <a:rPr lang="en-SG" sz="1000" dirty="0">
                          <a:solidFill>
                            <a:sysClr val="windowText" lastClr="000000"/>
                          </a:solidFill>
                          <a:latin typeface="Montserrat" panose="00000500000000000000" pitchFamily="2" charset="0"/>
                        </a:rPr>
                        <a:t>Gen Z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F4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algn="ctr"/>
                      <a:r>
                        <a:rPr lang="en-SG" sz="1000" dirty="0">
                          <a:solidFill>
                            <a:sysClr val="windowText" lastClr="000000"/>
                          </a:solidFill>
                          <a:latin typeface="Montserrat" panose="00000500000000000000" pitchFamily="2" charset="0"/>
                        </a:rPr>
                        <a:t>Millen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F4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algn="ctr"/>
                      <a:r>
                        <a:rPr lang="en-SG" sz="1000" dirty="0">
                          <a:solidFill>
                            <a:sysClr val="windowText" lastClr="000000"/>
                          </a:solidFill>
                          <a:latin typeface="Montserrat" panose="00000500000000000000" pitchFamily="2" charset="0"/>
                        </a:rPr>
                        <a:t>Gen X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F4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algn="ctr"/>
                      <a:r>
                        <a:rPr lang="en-SG" sz="1000" dirty="0">
                          <a:solidFill>
                            <a:sysClr val="windowText" lastClr="000000"/>
                          </a:solidFill>
                          <a:latin typeface="Montserrat" panose="00000500000000000000" pitchFamily="2" charset="0"/>
                        </a:rPr>
                        <a:t>Boom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F4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algn="ctr"/>
                      <a:r>
                        <a:rPr lang="en-SG" sz="1000" dirty="0">
                          <a:solidFill>
                            <a:sysClr val="windowText" lastClr="000000"/>
                          </a:solidFill>
                          <a:latin typeface="Montserrat" panose="00000500000000000000" pitchFamily="2" charset="0"/>
                        </a:rPr>
                        <a:t>Office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CC78E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algn="ctr"/>
                      <a:r>
                        <a:rPr lang="en-SG" sz="1000" dirty="0">
                          <a:solidFill>
                            <a:sysClr val="windowText" lastClr="000000"/>
                          </a:solidFill>
                          <a:latin typeface="Montserrat" panose="00000500000000000000" pitchFamily="2" charset="0"/>
                        </a:rPr>
                        <a:t>Non-office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CC78E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algn="ctr"/>
                      <a:r>
                        <a:rPr lang="en-SG" sz="1000" dirty="0">
                          <a:solidFill>
                            <a:sysClr val="windowText" lastClr="000000"/>
                          </a:solidFill>
                          <a:latin typeface="Montserrat" panose="00000500000000000000" pitchFamily="2" charset="0"/>
                        </a:rPr>
                        <a:t>Aware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6C61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algn="ctr"/>
                      <a:r>
                        <a:rPr lang="en-SG" sz="1000" dirty="0">
                          <a:solidFill>
                            <a:sysClr val="windowText" lastClr="000000"/>
                          </a:solidFill>
                          <a:latin typeface="Montserrat" panose="00000500000000000000" pitchFamily="2" charset="0"/>
                        </a:rPr>
                        <a:t>Not aware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6C61">
                        <a:lumMod val="40000"/>
                        <a:lumOff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3427996"/>
                  </a:ext>
                </a:extLst>
              </a:tr>
              <a:tr h="41848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algn="ctr"/>
                      <a:r>
                        <a:rPr lang="en-SG" sz="1000" dirty="0">
                          <a:solidFill>
                            <a:sysClr val="windowText" lastClr="000000"/>
                          </a:solidFill>
                          <a:latin typeface="Montserrat" panose="00000500000000000000" pitchFamily="2" charset="0"/>
                        </a:rPr>
                        <a:t>(n=)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algn="ctr"/>
                      <a:r>
                        <a:rPr kumimoji="0" lang="en-SG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Montserrat" panose="00000500000000000000" pitchFamily="2" charset="0"/>
                          <a:ea typeface="+mn-ea"/>
                          <a:cs typeface="+mn-cs"/>
                          <a:sym typeface="Arial"/>
                        </a:rPr>
                        <a:t>n=</a:t>
                      </a:r>
                      <a:endParaRPr lang="en-SG" sz="1000" dirty="0">
                        <a:solidFill>
                          <a:sysClr val="windowText" lastClr="000000"/>
                        </a:solidFill>
                        <a:latin typeface="Montserrat" panose="00000500000000000000" pitchFamily="2" charset="0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algn="ctr"/>
                      <a:r>
                        <a:rPr kumimoji="0" lang="en-SG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Montserrat" panose="00000500000000000000" pitchFamily="2" charset="0"/>
                          <a:ea typeface="+mn-ea"/>
                          <a:cs typeface="+mn-cs"/>
                          <a:sym typeface="Arial"/>
                        </a:rPr>
                        <a:t>n=</a:t>
                      </a:r>
                      <a:endParaRPr lang="en-SG" sz="1000" dirty="0">
                        <a:solidFill>
                          <a:sysClr val="windowText" lastClr="000000"/>
                        </a:solidFill>
                        <a:latin typeface="Montserrat" panose="00000500000000000000" pitchFamily="2" charset="0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algn="ctr"/>
                      <a:r>
                        <a:rPr kumimoji="0" lang="en-SG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Montserrat" panose="00000500000000000000" pitchFamily="2" charset="0"/>
                          <a:ea typeface="+mn-ea"/>
                          <a:cs typeface="+mn-cs"/>
                          <a:sym typeface="Arial"/>
                        </a:rPr>
                        <a:t>n=</a:t>
                      </a:r>
                      <a:endParaRPr lang="en-SG" sz="1000" dirty="0">
                        <a:solidFill>
                          <a:sysClr val="windowText" lastClr="000000"/>
                        </a:solidFill>
                        <a:latin typeface="Montserrat" panose="00000500000000000000" pitchFamily="2" charset="0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algn="ctr"/>
                      <a:r>
                        <a:rPr kumimoji="0" lang="en-SG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Montserrat" panose="00000500000000000000" pitchFamily="2" charset="0"/>
                          <a:ea typeface="+mn-ea"/>
                          <a:cs typeface="+mn-cs"/>
                          <a:sym typeface="Arial"/>
                        </a:rPr>
                        <a:t>n=</a:t>
                      </a:r>
                      <a:endParaRPr lang="en-SG" sz="1000" dirty="0">
                        <a:solidFill>
                          <a:sysClr val="windowText" lastClr="000000"/>
                        </a:solidFill>
                        <a:latin typeface="Montserrat" panose="00000500000000000000" pitchFamily="2" charset="0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algn="ctr"/>
                      <a:r>
                        <a:rPr kumimoji="0" lang="en-SG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Montserrat" panose="00000500000000000000" pitchFamily="2" charset="0"/>
                          <a:ea typeface="+mn-ea"/>
                          <a:cs typeface="+mn-cs"/>
                          <a:sym typeface="Arial"/>
                        </a:rPr>
                        <a:t>n=</a:t>
                      </a:r>
                      <a:endParaRPr lang="en-SG" sz="1000" dirty="0">
                        <a:solidFill>
                          <a:sysClr val="windowText" lastClr="000000"/>
                        </a:solidFill>
                        <a:latin typeface="Montserrat" panose="00000500000000000000" pitchFamily="2" charset="0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algn="ctr"/>
                      <a:r>
                        <a:rPr kumimoji="0" lang="en-SG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Montserrat" panose="00000500000000000000" pitchFamily="2" charset="0"/>
                          <a:ea typeface="+mn-ea"/>
                          <a:cs typeface="+mn-cs"/>
                          <a:sym typeface="Arial"/>
                        </a:rPr>
                        <a:t>n=</a:t>
                      </a:r>
                      <a:endParaRPr lang="en-SG" sz="1000" dirty="0">
                        <a:solidFill>
                          <a:sysClr val="windowText" lastClr="000000"/>
                        </a:solidFill>
                        <a:latin typeface="Montserrat" panose="00000500000000000000" pitchFamily="2" charset="0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algn="ctr"/>
                      <a:r>
                        <a:rPr kumimoji="0" lang="en-SG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Montserrat" panose="00000500000000000000" pitchFamily="2" charset="0"/>
                          <a:ea typeface="+mn-ea"/>
                          <a:cs typeface="+mn-cs"/>
                          <a:sym typeface="Arial"/>
                        </a:rPr>
                        <a:t>n=</a:t>
                      </a:r>
                      <a:endParaRPr lang="en-SG" sz="1000" dirty="0">
                        <a:solidFill>
                          <a:sysClr val="windowText" lastClr="000000"/>
                        </a:solidFill>
                        <a:latin typeface="Montserrat" panose="00000500000000000000" pitchFamily="2" charset="0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kumimoji="0" lang="en-IN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Montserrat" panose="00000500000000000000" pitchFamily="2" charset="0"/>
                          <a:ea typeface="+mn-ea"/>
                          <a:cs typeface="+mn-cs"/>
                          <a:sym typeface="Arial"/>
                        </a:rPr>
                        <a:t>n=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kumimoji="0" lang="en-IN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Montserrat" panose="00000500000000000000" pitchFamily="2" charset="0"/>
                          <a:ea typeface="+mn-ea"/>
                          <a:cs typeface="+mn-cs"/>
                          <a:sym typeface="Arial"/>
                        </a:rPr>
                        <a:t>n=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kumimoji="0" lang="en-IN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Montserrat" panose="00000500000000000000" pitchFamily="2" charset="0"/>
                          <a:ea typeface="+mn-ea"/>
                          <a:cs typeface="+mn-cs"/>
                          <a:sym typeface="Arial"/>
                        </a:rPr>
                        <a:t>n=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kumimoji="0" lang="en-IN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Montserrat" panose="00000500000000000000" pitchFamily="2" charset="0"/>
                          <a:ea typeface="+mn-ea"/>
                          <a:cs typeface="+mn-cs"/>
                          <a:sym typeface="Arial"/>
                        </a:rPr>
                        <a:t>n=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kumimoji="0" lang="en-IN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Montserrat" panose="00000500000000000000" pitchFamily="2" charset="0"/>
                          <a:ea typeface="+mn-ea"/>
                          <a:cs typeface="+mn-cs"/>
                          <a:sym typeface="Arial"/>
                        </a:rPr>
                        <a:t>n=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269258"/>
                  </a:ext>
                </a:extLst>
              </a:tr>
              <a:tr h="35875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algn="ctr"/>
                      <a:endParaRPr lang="en-SG" sz="1100" dirty="0">
                        <a:solidFill>
                          <a:sysClr val="windowText" lastClr="000000"/>
                        </a:solidFill>
                        <a:latin typeface="Montserrat" panose="00000500000000000000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8928457"/>
                  </a:ext>
                </a:extLst>
              </a:tr>
              <a:tr h="35875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algn="ctr"/>
                      <a:endParaRPr lang="en-SG" sz="1100" dirty="0">
                        <a:solidFill>
                          <a:sysClr val="windowText" lastClr="000000"/>
                        </a:solidFill>
                        <a:latin typeface="Montserrat" panose="00000500000000000000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7787278"/>
                  </a:ext>
                </a:extLst>
              </a:tr>
              <a:tr h="35875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algn="ctr"/>
                      <a:endParaRPr lang="en-SG" sz="1100" dirty="0">
                        <a:solidFill>
                          <a:sysClr val="windowText" lastClr="000000"/>
                        </a:solidFill>
                        <a:latin typeface="Montserrat" panose="00000500000000000000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2100679"/>
                  </a:ext>
                </a:extLst>
              </a:tr>
              <a:tr h="35875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algn="ctr"/>
                      <a:endParaRPr lang="en-SG" sz="1100" dirty="0">
                        <a:solidFill>
                          <a:sysClr val="windowText" lastClr="000000"/>
                        </a:solidFill>
                        <a:latin typeface="Montserrat" panose="00000500000000000000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3658634"/>
                  </a:ext>
                </a:extLst>
              </a:tr>
              <a:tr h="35875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algn="ctr"/>
                      <a:endParaRPr lang="en-SG" sz="1100" dirty="0">
                        <a:solidFill>
                          <a:sysClr val="windowText" lastClr="000000"/>
                        </a:solidFill>
                        <a:latin typeface="Montserrat" panose="00000500000000000000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5834092"/>
                  </a:ext>
                </a:extLst>
              </a:tr>
              <a:tr h="35875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algn="ctr"/>
                      <a:endParaRPr lang="en-SG" sz="1100">
                        <a:solidFill>
                          <a:sysClr val="windowText" lastClr="000000"/>
                        </a:solidFill>
                        <a:latin typeface="Montserrat" panose="00000500000000000000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9418045"/>
                  </a:ext>
                </a:extLst>
              </a:tr>
              <a:tr h="35875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algn="ctr"/>
                      <a:endParaRPr lang="en-SG" sz="1100" dirty="0">
                        <a:solidFill>
                          <a:sysClr val="windowText" lastClr="000000"/>
                        </a:solidFill>
                        <a:latin typeface="Montserrat" panose="00000500000000000000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1950825"/>
                  </a:ext>
                </a:extLst>
              </a:tr>
              <a:tr h="35875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algn="ctr"/>
                      <a:endParaRPr lang="en-SG" sz="1100">
                        <a:solidFill>
                          <a:sysClr val="windowText" lastClr="000000"/>
                        </a:solidFill>
                        <a:latin typeface="Montserrat" panose="00000500000000000000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1783835"/>
                  </a:ext>
                </a:extLst>
              </a:tr>
              <a:tr h="35875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algn="ctr"/>
                      <a:endParaRPr lang="en-SG" sz="1100" dirty="0">
                        <a:solidFill>
                          <a:sysClr val="windowText" lastClr="000000"/>
                        </a:solidFill>
                        <a:latin typeface="Montserrat" panose="00000500000000000000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8361802"/>
                  </a:ext>
                </a:extLst>
              </a:tr>
            </a:tbl>
          </a:graphicData>
        </a:graphic>
      </p:graphicFrame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A6B312AA-7E75-E3B3-8247-128085FAB0F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22760157"/>
              </p:ext>
            </p:extLst>
          </p:nvPr>
        </p:nvGraphicFramePr>
        <p:xfrm>
          <a:off x="706780" y="2745920"/>
          <a:ext cx="4215416" cy="32402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DD8AB3B8-BE53-714C-B7E4-42EB18C1A45F}"/>
              </a:ext>
            </a:extLst>
          </p:cNvPr>
          <p:cNvSpPr/>
          <p:nvPr/>
        </p:nvSpPr>
        <p:spPr>
          <a:xfrm>
            <a:off x="4368147" y="48852"/>
            <a:ext cx="6892438" cy="969516"/>
          </a:xfrm>
          <a:prstGeom prst="rect">
            <a:avLst/>
          </a:prstGeom>
          <a:solidFill>
            <a:srgbClr val="0D3AAB"/>
          </a:solidFill>
          <a:ln w="25400" cap="flat" cmpd="sng" algn="ctr">
            <a:solidFill>
              <a:srgbClr val="0D3AAB">
                <a:shade val="15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{Data} – Table_10, A2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Sort in descending order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Update the </a:t>
            </a:r>
            <a:r>
              <a:rPr kumimoji="0" lang="en-SG" sz="18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dat</a:t>
            </a:r>
            <a:r>
              <a:rPr lang="en-SG" kern="0" dirty="0">
                <a:solidFill>
                  <a:srgbClr val="FFFFFF"/>
                </a:solidFill>
                <a:latin typeface="Montserrat"/>
              </a:rPr>
              <a:t>a from the column as per the below table</a:t>
            </a:r>
            <a:endParaRPr kumimoji="0" lang="en-SG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293425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SPH Colours">
    <a:dk1>
      <a:srgbClr val="000000"/>
    </a:dk1>
    <a:lt1>
      <a:srgbClr val="FFFFFF"/>
    </a:lt1>
    <a:dk2>
      <a:srgbClr val="0D3AAB"/>
    </a:dk2>
    <a:lt2>
      <a:srgbClr val="E7E6E6"/>
    </a:lt2>
    <a:accent1>
      <a:srgbClr val="0D3AAB"/>
    </a:accent1>
    <a:accent2>
      <a:srgbClr val="50C7FF"/>
    </a:accent2>
    <a:accent3>
      <a:srgbClr val="FF6C61"/>
    </a:accent3>
    <a:accent4>
      <a:srgbClr val="5CC78E"/>
    </a:accent4>
    <a:accent5>
      <a:srgbClr val="FCB940"/>
    </a:accent5>
    <a:accent6>
      <a:srgbClr val="0D3AAB"/>
    </a:accent6>
    <a:hlink>
      <a:srgbClr val="50C7FF"/>
    </a:hlink>
    <a:folHlink>
      <a:srgbClr val="6E89C3"/>
    </a:folHlink>
  </a:clrScheme>
  <a:fontScheme name="Custom 3">
    <a:majorFont>
      <a:latin typeface="Montserrat"/>
      <a:ea typeface=""/>
      <a:cs typeface=""/>
    </a:majorFont>
    <a:minorFont>
      <a:latin typeface="Montserrat"/>
      <a:ea typeface="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tint val="100000"/>
              <a:shade val="100000"/>
              <a:satMod val="130000"/>
            </a:schemeClr>
          </a:gs>
          <a:gs pos="100000">
            <a:schemeClr val="phClr">
              <a:tint val="50000"/>
              <a:shade val="100000"/>
              <a:satMod val="350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2.xml><?xml version="1.0" encoding="utf-8"?>
<a:themeOverride xmlns:a="http://schemas.openxmlformats.org/drawingml/2006/main">
  <a:clrScheme name="SPH Colours">
    <a:dk1>
      <a:srgbClr val="000000"/>
    </a:dk1>
    <a:lt1>
      <a:srgbClr val="FFFFFF"/>
    </a:lt1>
    <a:dk2>
      <a:srgbClr val="0D3AAB"/>
    </a:dk2>
    <a:lt2>
      <a:srgbClr val="E7E6E6"/>
    </a:lt2>
    <a:accent1>
      <a:srgbClr val="0D3AAB"/>
    </a:accent1>
    <a:accent2>
      <a:srgbClr val="50C7FF"/>
    </a:accent2>
    <a:accent3>
      <a:srgbClr val="FF6C61"/>
    </a:accent3>
    <a:accent4>
      <a:srgbClr val="5CC78E"/>
    </a:accent4>
    <a:accent5>
      <a:srgbClr val="FCB940"/>
    </a:accent5>
    <a:accent6>
      <a:srgbClr val="0D3AAB"/>
    </a:accent6>
    <a:hlink>
      <a:srgbClr val="50C7FF"/>
    </a:hlink>
    <a:folHlink>
      <a:srgbClr val="6E89C3"/>
    </a:folHlink>
  </a:clrScheme>
  <a:fontScheme name="Custom 3">
    <a:majorFont>
      <a:latin typeface="Montserrat"/>
      <a:ea typeface=""/>
      <a:cs typeface=""/>
    </a:majorFont>
    <a:minorFont>
      <a:latin typeface="Montserrat"/>
      <a:ea typeface="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tint val="100000"/>
              <a:shade val="100000"/>
              <a:satMod val="130000"/>
            </a:schemeClr>
          </a:gs>
          <a:gs pos="100000">
            <a:schemeClr val="phClr">
              <a:tint val="50000"/>
              <a:shade val="100000"/>
              <a:satMod val="350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3.xml><?xml version="1.0" encoding="utf-8"?>
<a:themeOverride xmlns:a="http://schemas.openxmlformats.org/drawingml/2006/main">
  <a:clrScheme name="SPH Colours">
    <a:dk1>
      <a:srgbClr val="000000"/>
    </a:dk1>
    <a:lt1>
      <a:srgbClr val="FFFFFF"/>
    </a:lt1>
    <a:dk2>
      <a:srgbClr val="0D3AAB"/>
    </a:dk2>
    <a:lt2>
      <a:srgbClr val="E7E6E6"/>
    </a:lt2>
    <a:accent1>
      <a:srgbClr val="0D3AAB"/>
    </a:accent1>
    <a:accent2>
      <a:srgbClr val="50C7FF"/>
    </a:accent2>
    <a:accent3>
      <a:srgbClr val="FF6C61"/>
    </a:accent3>
    <a:accent4>
      <a:srgbClr val="5CC78E"/>
    </a:accent4>
    <a:accent5>
      <a:srgbClr val="FCB940"/>
    </a:accent5>
    <a:accent6>
      <a:srgbClr val="0D3AAB"/>
    </a:accent6>
    <a:hlink>
      <a:srgbClr val="50C7FF"/>
    </a:hlink>
    <a:folHlink>
      <a:srgbClr val="6E89C3"/>
    </a:folHlink>
  </a:clrScheme>
  <a:fontScheme name="Custom 3">
    <a:majorFont>
      <a:latin typeface="Montserrat"/>
      <a:ea typeface=""/>
      <a:cs typeface=""/>
    </a:majorFont>
    <a:minorFont>
      <a:latin typeface="Montserrat"/>
      <a:ea typeface="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tint val="100000"/>
              <a:shade val="100000"/>
              <a:satMod val="130000"/>
            </a:schemeClr>
          </a:gs>
          <a:gs pos="100000">
            <a:schemeClr val="phClr">
              <a:tint val="50000"/>
              <a:shade val="100000"/>
              <a:satMod val="350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4.xml><?xml version="1.0" encoding="utf-8"?>
<a:themeOverride xmlns:a="http://schemas.openxmlformats.org/drawingml/2006/main">
  <a:clrScheme name="SPH Colours">
    <a:dk1>
      <a:srgbClr val="000000"/>
    </a:dk1>
    <a:lt1>
      <a:srgbClr val="FFFFFF"/>
    </a:lt1>
    <a:dk2>
      <a:srgbClr val="0D3AAB"/>
    </a:dk2>
    <a:lt2>
      <a:srgbClr val="E7E6E6"/>
    </a:lt2>
    <a:accent1>
      <a:srgbClr val="0D3AAB"/>
    </a:accent1>
    <a:accent2>
      <a:srgbClr val="50C7FF"/>
    </a:accent2>
    <a:accent3>
      <a:srgbClr val="FF6C61"/>
    </a:accent3>
    <a:accent4>
      <a:srgbClr val="5CC78E"/>
    </a:accent4>
    <a:accent5>
      <a:srgbClr val="FCB940"/>
    </a:accent5>
    <a:accent6>
      <a:srgbClr val="0D3AAB"/>
    </a:accent6>
    <a:hlink>
      <a:srgbClr val="50C7FF"/>
    </a:hlink>
    <a:folHlink>
      <a:srgbClr val="6E89C3"/>
    </a:folHlink>
  </a:clrScheme>
  <a:fontScheme name="Custom 3">
    <a:majorFont>
      <a:latin typeface="Montserrat"/>
      <a:ea typeface=""/>
      <a:cs typeface=""/>
    </a:majorFont>
    <a:minorFont>
      <a:latin typeface="Montserrat"/>
      <a:ea typeface="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tint val="100000"/>
              <a:shade val="100000"/>
              <a:satMod val="130000"/>
            </a:schemeClr>
          </a:gs>
          <a:gs pos="100000">
            <a:schemeClr val="phClr">
              <a:tint val="50000"/>
              <a:shade val="100000"/>
              <a:satMod val="350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5.xml><?xml version="1.0" encoding="utf-8"?>
<a:themeOverride xmlns:a="http://schemas.openxmlformats.org/drawingml/2006/main">
  <a:clrScheme name="SPH Colours">
    <a:dk1>
      <a:srgbClr val="000000"/>
    </a:dk1>
    <a:lt1>
      <a:srgbClr val="FFFFFF"/>
    </a:lt1>
    <a:dk2>
      <a:srgbClr val="0D3AAB"/>
    </a:dk2>
    <a:lt2>
      <a:srgbClr val="E7E6E6"/>
    </a:lt2>
    <a:accent1>
      <a:srgbClr val="0D3AAB"/>
    </a:accent1>
    <a:accent2>
      <a:srgbClr val="50C7FF"/>
    </a:accent2>
    <a:accent3>
      <a:srgbClr val="FF6C61"/>
    </a:accent3>
    <a:accent4>
      <a:srgbClr val="5CC78E"/>
    </a:accent4>
    <a:accent5>
      <a:srgbClr val="FCB940"/>
    </a:accent5>
    <a:accent6>
      <a:srgbClr val="0D3AAB"/>
    </a:accent6>
    <a:hlink>
      <a:srgbClr val="50C7FF"/>
    </a:hlink>
    <a:folHlink>
      <a:srgbClr val="6E89C3"/>
    </a:folHlink>
  </a:clrScheme>
  <a:fontScheme name="Custom 3">
    <a:majorFont>
      <a:latin typeface="Montserrat"/>
      <a:ea typeface=""/>
      <a:cs typeface=""/>
    </a:majorFont>
    <a:minorFont>
      <a:latin typeface="Montserrat"/>
      <a:ea typeface="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tint val="100000"/>
              <a:shade val="100000"/>
              <a:satMod val="130000"/>
            </a:schemeClr>
          </a:gs>
          <a:gs pos="100000">
            <a:schemeClr val="phClr">
              <a:tint val="50000"/>
              <a:shade val="100000"/>
              <a:satMod val="350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6.xml><?xml version="1.0" encoding="utf-8"?>
<a:themeOverride xmlns:a="http://schemas.openxmlformats.org/drawingml/2006/main">
  <a:clrScheme name="SPH Colours">
    <a:dk1>
      <a:srgbClr val="000000"/>
    </a:dk1>
    <a:lt1>
      <a:srgbClr val="FFFFFF"/>
    </a:lt1>
    <a:dk2>
      <a:srgbClr val="0D3AAB"/>
    </a:dk2>
    <a:lt2>
      <a:srgbClr val="E7E6E6"/>
    </a:lt2>
    <a:accent1>
      <a:srgbClr val="0D3AAB"/>
    </a:accent1>
    <a:accent2>
      <a:srgbClr val="50C7FF"/>
    </a:accent2>
    <a:accent3>
      <a:srgbClr val="FF6C61"/>
    </a:accent3>
    <a:accent4>
      <a:srgbClr val="5CC78E"/>
    </a:accent4>
    <a:accent5>
      <a:srgbClr val="FCB940"/>
    </a:accent5>
    <a:accent6>
      <a:srgbClr val="0D3AAB"/>
    </a:accent6>
    <a:hlink>
      <a:srgbClr val="50C7FF"/>
    </a:hlink>
    <a:folHlink>
      <a:srgbClr val="6E89C3"/>
    </a:folHlink>
  </a:clrScheme>
  <a:fontScheme name="Custom 3">
    <a:majorFont>
      <a:latin typeface="Montserrat"/>
      <a:ea typeface=""/>
      <a:cs typeface=""/>
    </a:majorFont>
    <a:minorFont>
      <a:latin typeface="Montserrat"/>
      <a:ea typeface="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tint val="100000"/>
              <a:shade val="100000"/>
              <a:satMod val="130000"/>
            </a:schemeClr>
          </a:gs>
          <a:gs pos="100000">
            <a:schemeClr val="phClr">
              <a:tint val="50000"/>
              <a:shade val="100000"/>
              <a:satMod val="350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145</Words>
  <Application>Microsoft Office PowerPoint</Application>
  <PresentationFormat>Widescreen</PresentationFormat>
  <Paragraphs>48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Montserrat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Saikiran D</dc:creator>
  <cp:lastModifiedBy>Saikiran D</cp:lastModifiedBy>
  <cp:revision>5</cp:revision>
  <dcterms:created xsi:type="dcterms:W3CDTF">2026-06-25T16:07:59Z</dcterms:created>
  <dcterms:modified xsi:type="dcterms:W3CDTF">2026-07-15T15:06:59Z</dcterms:modified>
</cp:coreProperties>
</file>