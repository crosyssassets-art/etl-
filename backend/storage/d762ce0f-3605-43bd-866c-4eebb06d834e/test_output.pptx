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themeOverride" Target="../theme/themeOverride2.xml"/><Relationship Id="rId4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themeOverride" Target="../theme/themeOverride3.xml"/><Relationship Id="rId4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themeOverride" Target="../theme/themeOverride4.xml"/><Relationship Id="rId4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themeOverride" Target="../theme/themeOverride5.xml"/><Relationship Id="rId4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themeOverride" Target="../theme/themeOverride6.xml"/><Relationship Id="rId4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5133365836926328E-2"/>
          <c:y val="0"/>
          <c:w val="0.99989525343882502"/>
          <c:h val="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C66-4C3B-8B54-9AD0D017323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C66-4C3B-8B54-9AD0D0173232}"/>
              </c:ext>
            </c:extLst>
          </c:dPt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</c:v>
                </c:pt>
                <c:pt idx="1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66-4C3B-8B54-9AD0D01732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9.492966478361877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C7C-447C-B5D9-DC0FE87B03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Gen Z
(18-24)</c:v>
                </c:pt>
                <c:pt idx="1">
                  <c:v>Mil
(30-45)</c:v>
                </c:pt>
                <c:pt idx="2">
                  <c:v>Gen X
(46-60)</c:v>
                </c:pt>
                <c:pt idx="3">
                  <c:v>Boomers
(60+)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</c:v>
                </c:pt>
                <c:pt idx="1">
                  <c:v>0.52</c:v>
                </c:pt>
                <c:pt idx="2">
                  <c:v>0.25</c:v>
                </c:pt>
                <c:pt idx="3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7C-447C-B5D9-DC0FE87B03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-27"/>
        <c:axId val="167878111"/>
        <c:axId val="167866111"/>
      </c:barChart>
      <c:catAx>
        <c:axId val="167878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67866111"/>
        <c:crosses val="autoZero"/>
        <c:auto val="1"/>
        <c:lblAlgn val="ctr"/>
        <c:lblOffset val="100"/>
        <c:noMultiLvlLbl val="0"/>
      </c:catAx>
      <c:valAx>
        <c:axId val="167866111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1678781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/>
            </a:solidFill>
          </c:spPr>
          <c:dPt>
            <c:idx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E3B-4F9F-B357-020ACC977B6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E3B-4F9F-B357-020ACC977B6D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E3B-4F9F-B357-020ACC977B6D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E3B-4F9F-B357-020ACC977B6D}"/>
              </c:ext>
            </c:extLst>
          </c:dPt>
          <c:dLbls>
            <c:dLbl>
              <c:idx val="2"/>
              <c:layout>
                <c:manualLayout>
                  <c:x val="2.3359936663319775E-2"/>
                  <c:y val="9.3098055849762426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E3B-4F9F-B357-020ACC977B6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E3B-4F9F-B357-020ACC977B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Single</c:v>
                </c:pt>
                <c:pt idx="1">
                  <c:v>Married</c:v>
                </c:pt>
                <c:pt idx="2">
                  <c:v>Divorced</c:v>
                </c:pt>
                <c:pt idx="3">
                  <c:v>Widowed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0.24</c:v>
                </c:pt>
                <c:pt idx="1">
                  <c:v>0.73</c:v>
                </c:pt>
                <c:pt idx="2">
                  <c:v>0.03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E3B-4F9F-B357-020ACC977B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33162019162803152"/>
          <c:y val="8.9241568045258318E-2"/>
          <c:w val="0.64185522125099814"/>
          <c:h val="0.8215168639094834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0923432199258065E-2"/>
                  <c:y val="6.0856096078082842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900" b="1" i="0" u="none" strike="noStrike" kern="1200" baseline="0">
                      <a:solidFill>
                        <a:srgbClr val="000000"/>
                      </a:solidFill>
                      <a:latin typeface="Montserrat" panose="00000500000000000000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E80-48BF-8029-98BB6B45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Sheet1!$A$3:$A$5</c:f>
              <c:strCache>
                <c:ptCount val="3"/>
                <c:pt idx="0">
                  <c:v>Secondary</c:v>
                </c:pt>
                <c:pt idx="1">
                  <c:v>Tertiary</c:v>
                </c:pt>
                <c:pt idx="2">
                  <c:v>Post-grad</c:v>
                </c:pt>
              </c:strCache>
            </c:strRef>
          </c:cat>
          <c:val>
            <c:numRef>
              <c:f>Sheet1!$B$3:$B$5</c:f>
              <c:numCache>
                <c:formatCode>0%</c:formatCode>
                <c:ptCount val="3"/>
                <c:pt idx="0">
                  <c:v>0.11</c:v>
                </c:pt>
                <c:pt idx="1">
                  <c:v>0.57999999999999996</c:v>
                </c:pt>
                <c:pt idx="2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80-48BF-8029-98BB6B4569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axId val="167878111"/>
        <c:axId val="167866111"/>
      </c:barChart>
      <c:catAx>
        <c:axId val="16787811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67866111"/>
        <c:crosses val="autoZero"/>
        <c:auto val="1"/>
        <c:lblAlgn val="ctr"/>
        <c:lblOffset val="100"/>
        <c:noMultiLvlLbl val="0"/>
      </c:catAx>
      <c:valAx>
        <c:axId val="16786611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678781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 concern at all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3.4795092522068431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28B-45D4-AC8B-E1EEC48AC106}"/>
                </c:ext>
              </c:extLst>
            </c:dLbl>
            <c:dLbl>
              <c:idx val="3"/>
              <c:layout>
                <c:manualLayout>
                  <c:x val="3.4795092522068431E-3"/>
                  <c:y val="1.0848000915709343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28B-45D4-AC8B-E1EEC48AC106}"/>
                </c:ext>
              </c:extLst>
            </c:dLbl>
            <c:dLbl>
              <c:idx val="4"/>
              <c:layout>
                <c:manualLayout>
                  <c:x val="3.4795092522068856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28B-45D4-AC8B-E1EEC48AC106}"/>
                </c:ext>
              </c:extLst>
            </c:dLbl>
            <c:dLbl>
              <c:idx val="5"/>
              <c:layout>
                <c:manualLayout>
                  <c:x val="3.4795092522068856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28B-45D4-AC8B-E1EEC48AC106}"/>
                </c:ext>
              </c:extLst>
            </c:dLbl>
            <c:dLbl>
              <c:idx val="6"/>
              <c:layout>
                <c:manualLayout>
                  <c:x val="6.9590185044137286E-3"/>
                  <c:y val="1.0848000915709343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28B-45D4-AC8B-E1EEC48AC106}"/>
                </c:ext>
              </c:extLst>
            </c:dLbl>
            <c:dLbl>
              <c:idx val="10"/>
              <c:layout>
                <c:manualLayout>
                  <c:x val="2.319672834804548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28B-45D4-AC8B-E1EEC48AC1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Total (n=xxxx)</c:v>
                </c:pt>
                <c:pt idx="1">
                  <c:v>Concern with heat (n=xxx)</c:v>
                </c:pt>
                <c:pt idx="2">
                  <c:v>Non-concern with heat (n=xxx)</c:v>
                </c:pt>
                <c:pt idx="3">
                  <c:v>High heat exposure (n=xxx)</c:v>
                </c:pt>
                <c:pt idx="4">
                  <c:v>Low heat exposure (n=xxx)</c:v>
                </c:pt>
                <c:pt idx="5">
                  <c:v>Gen Zs (n=285)</c:v>
                </c:pt>
                <c:pt idx="6">
                  <c:v>Milennials (n=75)</c:v>
                </c:pt>
                <c:pt idx="7">
                  <c:v>Gen Xs (n=285)</c:v>
                </c:pt>
                <c:pt idx="8">
                  <c:v>Boomers (n=285)</c:v>
                </c:pt>
                <c:pt idx="9">
                  <c:v>Office workers (n=xxx)</c:v>
                </c:pt>
                <c:pt idx="10">
                  <c:v>Non-office workers (n=xxx)</c:v>
                </c:pt>
                <c:pt idx="11">
                  <c:v>Aware TLC (n=xxx)</c:v>
                </c:pt>
                <c:pt idx="12">
                  <c:v>Not aware TLC (n=xxx)</c:v>
                </c:pt>
              </c:strCache>
            </c:strRef>
          </c:cat>
          <c:val>
            <c:numRef>
              <c:f>Sheet1!$B$2:$B$14</c:f>
              <c:numCache>
                <c:formatCode>0%</c:formatCode>
                <c:ptCount val="13"/>
                <c:pt idx="0">
                  <c:v>0.03</c:v>
                </c:pt>
                <c:pt idx="1">
                  <c:v>0.02</c:v>
                </c:pt>
                <c:pt idx="2">
                  <c:v>0.02</c:v>
                </c:pt>
                <c:pt idx="3">
                  <c:v>0.02</c:v>
                </c:pt>
                <c:pt idx="4">
                  <c:v>0.14000000000000001</c:v>
                </c:pt>
                <c:pt idx="5">
                  <c:v>0.21</c:v>
                </c:pt>
                <c:pt idx="6">
                  <c:v>0.27</c:v>
                </c:pt>
                <c:pt idx="7">
                  <c:v>0.21</c:v>
                </c:pt>
                <c:pt idx="8">
                  <c:v>0.21</c:v>
                </c:pt>
                <c:pt idx="9">
                  <c:v>0.05</c:v>
                </c:pt>
                <c:pt idx="10">
                  <c:v>0.02</c:v>
                </c:pt>
                <c:pt idx="11">
                  <c:v>0.05</c:v>
                </c:pt>
                <c:pt idx="12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28B-45D4-AC8B-E1EEC48AC1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Somewhat not concern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Total (n=xxxx)</c:v>
                </c:pt>
                <c:pt idx="1">
                  <c:v>Concern with heat (n=xxx)</c:v>
                </c:pt>
                <c:pt idx="2">
                  <c:v>Non-concern with heat (n=xxx)</c:v>
                </c:pt>
                <c:pt idx="3">
                  <c:v>High heat exposure (n=xxx)</c:v>
                </c:pt>
                <c:pt idx="4">
                  <c:v>Low heat exposure (n=xxx)</c:v>
                </c:pt>
                <c:pt idx="5">
                  <c:v>Gen Zs (n=285)</c:v>
                </c:pt>
                <c:pt idx="6">
                  <c:v>Milennials (n=75)</c:v>
                </c:pt>
                <c:pt idx="7">
                  <c:v>Gen Xs (n=285)</c:v>
                </c:pt>
                <c:pt idx="8">
                  <c:v>Boomers (n=285)</c:v>
                </c:pt>
                <c:pt idx="9">
                  <c:v>Office workers (n=xxx)</c:v>
                </c:pt>
                <c:pt idx="10">
                  <c:v>Non-office workers (n=xxx)</c:v>
                </c:pt>
                <c:pt idx="11">
                  <c:v>Aware TLC (n=xxx)</c:v>
                </c:pt>
                <c:pt idx="12">
                  <c:v>Not aware TLC (n=xxx)</c:v>
                </c:pt>
              </c:strCache>
            </c:strRef>
          </c:cat>
          <c:val>
            <c:numRef>
              <c:f>Sheet1!$C$2:$C$14</c:f>
              <c:numCache>
                <c:formatCode>0%</c:formatCode>
                <c:ptCount val="13"/>
                <c:pt idx="0">
                  <c:v>0.12</c:v>
                </c:pt>
                <c:pt idx="1">
                  <c:v>0.1</c:v>
                </c:pt>
                <c:pt idx="2">
                  <c:v>0.14000000000000001</c:v>
                </c:pt>
                <c:pt idx="3">
                  <c:v>0.14000000000000001</c:v>
                </c:pt>
                <c:pt idx="4">
                  <c:v>0.25</c:v>
                </c:pt>
                <c:pt idx="5">
                  <c:v>0.28999999999999998</c:v>
                </c:pt>
                <c:pt idx="6">
                  <c:v>0.24</c:v>
                </c:pt>
                <c:pt idx="7">
                  <c:v>0.28999999999999998</c:v>
                </c:pt>
                <c:pt idx="8">
                  <c:v>0.28999999999999998</c:v>
                </c:pt>
                <c:pt idx="9">
                  <c:v>0.16</c:v>
                </c:pt>
                <c:pt idx="10">
                  <c:v>0.12</c:v>
                </c:pt>
                <c:pt idx="11">
                  <c:v>0.16</c:v>
                </c:pt>
                <c:pt idx="12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28B-45D4-AC8B-E1EEC48AC10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Total (n=xxxx)</c:v>
                </c:pt>
                <c:pt idx="1">
                  <c:v>Concern with heat (n=xxx)</c:v>
                </c:pt>
                <c:pt idx="2">
                  <c:v>Non-concern with heat (n=xxx)</c:v>
                </c:pt>
                <c:pt idx="3">
                  <c:v>High heat exposure (n=xxx)</c:v>
                </c:pt>
                <c:pt idx="4">
                  <c:v>Low heat exposure (n=xxx)</c:v>
                </c:pt>
                <c:pt idx="5">
                  <c:v>Gen Zs (n=285)</c:v>
                </c:pt>
                <c:pt idx="6">
                  <c:v>Milennials (n=75)</c:v>
                </c:pt>
                <c:pt idx="7">
                  <c:v>Gen Xs (n=285)</c:v>
                </c:pt>
                <c:pt idx="8">
                  <c:v>Boomers (n=285)</c:v>
                </c:pt>
                <c:pt idx="9">
                  <c:v>Office workers (n=xxx)</c:v>
                </c:pt>
                <c:pt idx="10">
                  <c:v>Non-office workers (n=xxx)</c:v>
                </c:pt>
                <c:pt idx="11">
                  <c:v>Aware TLC (n=xxx)</c:v>
                </c:pt>
                <c:pt idx="12">
                  <c:v>Not aware TLC (n=xxx)</c:v>
                </c:pt>
              </c:strCache>
            </c:strRef>
          </c:cat>
          <c:val>
            <c:numRef>
              <c:f>Sheet1!$D$2:$D$14</c:f>
              <c:numCache>
                <c:formatCode>0%</c:formatCode>
                <c:ptCount val="13"/>
                <c:pt idx="0">
                  <c:v>0.41</c:v>
                </c:pt>
                <c:pt idx="1">
                  <c:v>0.51</c:v>
                </c:pt>
                <c:pt idx="2">
                  <c:v>0.36</c:v>
                </c:pt>
                <c:pt idx="3">
                  <c:v>0.36</c:v>
                </c:pt>
                <c:pt idx="4">
                  <c:v>0.44</c:v>
                </c:pt>
                <c:pt idx="5">
                  <c:v>0.4</c:v>
                </c:pt>
                <c:pt idx="6">
                  <c:v>0.41</c:v>
                </c:pt>
                <c:pt idx="7">
                  <c:v>0.4</c:v>
                </c:pt>
                <c:pt idx="8">
                  <c:v>0.4</c:v>
                </c:pt>
                <c:pt idx="9">
                  <c:v>0.39</c:v>
                </c:pt>
                <c:pt idx="10">
                  <c:v>0.38</c:v>
                </c:pt>
                <c:pt idx="11">
                  <c:v>0.39</c:v>
                </c:pt>
                <c:pt idx="12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28B-45D4-AC8B-E1EEC48AC10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Somewhat concern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Total (n=xxxx)</c:v>
                </c:pt>
                <c:pt idx="1">
                  <c:v>Concern with heat (n=xxx)</c:v>
                </c:pt>
                <c:pt idx="2">
                  <c:v>Non-concern with heat (n=xxx)</c:v>
                </c:pt>
                <c:pt idx="3">
                  <c:v>High heat exposure (n=xxx)</c:v>
                </c:pt>
                <c:pt idx="4">
                  <c:v>Low heat exposure (n=xxx)</c:v>
                </c:pt>
                <c:pt idx="5">
                  <c:v>Gen Zs (n=285)</c:v>
                </c:pt>
                <c:pt idx="6">
                  <c:v>Milennials (n=75)</c:v>
                </c:pt>
                <c:pt idx="7">
                  <c:v>Gen Xs (n=285)</c:v>
                </c:pt>
                <c:pt idx="8">
                  <c:v>Boomers (n=285)</c:v>
                </c:pt>
                <c:pt idx="9">
                  <c:v>Office workers (n=xxx)</c:v>
                </c:pt>
                <c:pt idx="10">
                  <c:v>Non-office workers (n=xxx)</c:v>
                </c:pt>
                <c:pt idx="11">
                  <c:v>Aware TLC (n=xxx)</c:v>
                </c:pt>
                <c:pt idx="12">
                  <c:v>Not aware TLC (n=xxx)</c:v>
                </c:pt>
              </c:strCache>
            </c:strRef>
          </c:cat>
          <c:val>
            <c:numRef>
              <c:f>Sheet1!$E$2:$E$14</c:f>
              <c:numCache>
                <c:formatCode>0%</c:formatCode>
                <c:ptCount val="13"/>
                <c:pt idx="0">
                  <c:v>0.25</c:v>
                </c:pt>
                <c:pt idx="1">
                  <c:v>0.21</c:v>
                </c:pt>
                <c:pt idx="2">
                  <c:v>0.24</c:v>
                </c:pt>
                <c:pt idx="3">
                  <c:v>0.24</c:v>
                </c:pt>
                <c:pt idx="4">
                  <c:v>0.17</c:v>
                </c:pt>
                <c:pt idx="5">
                  <c:v>0.08</c:v>
                </c:pt>
                <c:pt idx="6">
                  <c:v>0.08</c:v>
                </c:pt>
                <c:pt idx="7">
                  <c:v>0.08</c:v>
                </c:pt>
                <c:pt idx="8">
                  <c:v>0.08</c:v>
                </c:pt>
                <c:pt idx="9">
                  <c:v>0.28999999999999998</c:v>
                </c:pt>
                <c:pt idx="10">
                  <c:v>0.25</c:v>
                </c:pt>
                <c:pt idx="11">
                  <c:v>0.28999999999999998</c:v>
                </c:pt>
                <c:pt idx="12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28B-45D4-AC8B-E1EEC48AC10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Extremely concern</c:v>
                </c:pt>
              </c:strCache>
            </c:strRef>
          </c:tx>
          <c:spPr>
            <a:solidFill>
              <a:schemeClr val="accent4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Total (n=xxxx)</c:v>
                </c:pt>
                <c:pt idx="1">
                  <c:v>Concern with heat (n=xxx)</c:v>
                </c:pt>
                <c:pt idx="2">
                  <c:v>Non-concern with heat (n=xxx)</c:v>
                </c:pt>
                <c:pt idx="3">
                  <c:v>High heat exposure (n=xxx)</c:v>
                </c:pt>
                <c:pt idx="4">
                  <c:v>Low heat exposure (n=xxx)</c:v>
                </c:pt>
                <c:pt idx="5">
                  <c:v>Gen Zs (n=285)</c:v>
                </c:pt>
                <c:pt idx="6">
                  <c:v>Milennials (n=75)</c:v>
                </c:pt>
                <c:pt idx="7">
                  <c:v>Gen Xs (n=285)</c:v>
                </c:pt>
                <c:pt idx="8">
                  <c:v>Boomers (n=285)</c:v>
                </c:pt>
                <c:pt idx="9">
                  <c:v>Office workers (n=xxx)</c:v>
                </c:pt>
                <c:pt idx="10">
                  <c:v>Non-office workers (n=xxx)</c:v>
                </c:pt>
                <c:pt idx="11">
                  <c:v>Aware TLC (n=xxx)</c:v>
                </c:pt>
                <c:pt idx="12">
                  <c:v>Not aware TLC (n=xxx)</c:v>
                </c:pt>
              </c:strCache>
            </c:strRef>
          </c:cat>
          <c:val>
            <c:numRef>
              <c:f>Sheet1!$F$2:$F$14</c:f>
              <c:numCache>
                <c:formatCode>0%</c:formatCode>
                <c:ptCount val="13"/>
                <c:pt idx="0">
                  <c:v>0.19</c:v>
                </c:pt>
                <c:pt idx="1">
                  <c:v>0.16</c:v>
                </c:pt>
                <c:pt idx="2">
                  <c:v>0.24</c:v>
                </c:pt>
                <c:pt idx="3">
                  <c:v>0.24</c:v>
                </c:pt>
                <c:pt idx="4">
                  <c:v>0.02</c:v>
                </c:pt>
                <c:pt idx="5">
                  <c:v>0.02</c:v>
                </c:pt>
                <c:pt idx="7">
                  <c:v>0.02</c:v>
                </c:pt>
                <c:pt idx="8">
                  <c:v>0.02</c:v>
                </c:pt>
                <c:pt idx="9">
                  <c:v>0.11</c:v>
                </c:pt>
                <c:pt idx="10">
                  <c:v>0.23</c:v>
                </c:pt>
                <c:pt idx="11">
                  <c:v>0.11</c:v>
                </c:pt>
                <c:pt idx="12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28B-45D4-AC8B-E1EEC48AC10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1268605760"/>
        <c:axId val="1268610080"/>
      </c:barChart>
      <c:catAx>
        <c:axId val="126860576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8610080"/>
        <c:crosses val="autoZero"/>
        <c:auto val="1"/>
        <c:lblAlgn val="ctr"/>
        <c:lblOffset val="100"/>
        <c:noMultiLvlLbl val="0"/>
      </c:catAx>
      <c:valAx>
        <c:axId val="1268610080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1268605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7751479289940829E-2"/>
          <c:w val="1"/>
          <c:h val="0.1167381074407119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0013045136171153"/>
          <c:y val="7.485675841592568E-3"/>
          <c:w val="0.4709654166302003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chemeClr val="accent3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377-41D7-9732-CB3299D4B804}"/>
              </c:ext>
            </c:extLst>
          </c:dPt>
          <c:dPt>
            <c:idx val="1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377-41D7-9732-CB3299D4B804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377-41D7-9732-CB3299D4B804}"/>
              </c:ext>
            </c:extLst>
          </c:dPt>
          <c:dPt>
            <c:idx val="3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377-41D7-9732-CB3299D4B804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377-41D7-9732-CB3299D4B804}"/>
              </c:ext>
            </c:extLst>
          </c:dPt>
          <c:dPt>
            <c:idx val="5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B377-41D7-9732-CB3299D4B804}"/>
              </c:ext>
            </c:extLst>
          </c:dPt>
          <c:dPt>
            <c:idx val="6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B377-41D7-9732-CB3299D4B804}"/>
              </c:ext>
            </c:extLst>
          </c:dPt>
          <c:dPt>
            <c:idx val="7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B377-41D7-9732-CB3299D4B804}"/>
              </c:ext>
            </c:extLst>
          </c:dPt>
          <c:dPt>
            <c:idx val="8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B377-41D7-9732-CB3299D4B80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A Statement</c:v>
                </c:pt>
                <c:pt idx="1">
                  <c:v>B Statement</c:v>
                </c:pt>
                <c:pt idx="2">
                  <c:v>C Statement</c:v>
                </c:pt>
                <c:pt idx="3">
                  <c:v>D Statement</c:v>
                </c:pt>
                <c:pt idx="4">
                  <c:v>E Statement</c:v>
                </c:pt>
                <c:pt idx="5">
                  <c:v>F Statement</c:v>
                </c:pt>
                <c:pt idx="6">
                  <c:v>G Statement</c:v>
                </c:pt>
                <c:pt idx="7">
                  <c:v>H Statement</c:v>
                </c:pt>
                <c:pt idx="8">
                  <c:v>I Statement</c:v>
                </c:pt>
              </c:strCache>
            </c:strRef>
          </c:cat>
          <c:val>
            <c:numRef>
              <c:f>Sheet1!$B$2:$B$10</c:f>
              <c:numCache>
                <c:formatCode>0%</c:formatCode>
                <c:ptCount val="9"/>
                <c:pt idx="0">
                  <c:v>0.45</c:v>
                </c:pt>
                <c:pt idx="1">
                  <c:v>0.43</c:v>
                </c:pt>
                <c:pt idx="2">
                  <c:v>0.42</c:v>
                </c:pt>
                <c:pt idx="3">
                  <c:v>0.37</c:v>
                </c:pt>
                <c:pt idx="4">
                  <c:v>0.36</c:v>
                </c:pt>
                <c:pt idx="5">
                  <c:v>0.35</c:v>
                </c:pt>
                <c:pt idx="6">
                  <c:v>0.34</c:v>
                </c:pt>
                <c:pt idx="7">
                  <c:v>0.28999999999999998</c:v>
                </c:pt>
                <c:pt idx="8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B377-41D7-9732-CB3299D4B80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3"/>
        <c:axId val="463209040"/>
        <c:axId val="463209520"/>
      </c:barChart>
      <c:catAx>
        <c:axId val="46320904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r">
              <a:defRPr sz="10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463209520"/>
        <c:crosses val="autoZero"/>
        <c:auto val="1"/>
        <c:lblAlgn val="ctr"/>
        <c:lblOffset val="100"/>
        <c:noMultiLvlLbl val="0"/>
      </c:catAx>
      <c:valAx>
        <c:axId val="463209520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extTo"/>
        <c:crossAx val="463209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7224A-EB8C-5EDA-BCF3-69E0B94CBA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6459D-A483-55F9-177E-215ED458B7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34A26-2C4E-5BCE-71BE-774E5A497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35D81-6110-FB08-7B68-6D56C8C68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81A3F-24B4-B21D-0B9F-55CE9A6F9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424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BA409-A707-282D-782B-9160DE4FE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BAAB2-7363-658B-EEC9-B55B7FF9F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F87BE-36B8-6FC9-2D6E-DCD36037F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5427E-E7E3-A121-5E84-F4B6EA0CE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84B68-A862-2DDA-1270-89ADEF449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54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3C0C4-9311-570D-3F90-2C4102FB9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036C6-AEC2-5323-0A88-B962DEB8F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D2F70-5B0C-CD64-91B1-83F68C359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29082-52E8-98E0-A0B4-ABEE10D4F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B8FEC-AFD4-F262-CCEF-FB58FA398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096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7D836-A005-B3C7-08B0-7A1B43C64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DCDF8-D7CA-E7C9-B0FA-CF5395F3B8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F44FA-0695-AAB9-8351-70D246305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E3AAE-7771-EE0A-F869-CE8EBB77A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7AB149-4420-F7D8-52AE-C6E8B34AD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A56BD-98D0-0458-F2DA-2E17CCCE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5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934AB-6329-BEDD-D455-9BA55809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E0FC7-5C76-5617-652D-00355F6D6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90E84-2C90-F71E-74EA-63D4968CE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7A9855-FE63-561E-17C4-5262E89F43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4ECB82-D8DC-24C4-6E53-FE4984C04D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933375-E7A7-3B3B-DFAE-A363FE526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00F64D-6D9C-66BF-6BED-771739A15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C80D42-F5F2-BFA5-5EFE-74A6D33D6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869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16CC4-D211-4C10-D01F-6E0A3881F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3A27EF-CAFB-BF3C-9DCA-177F91891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3D9B1F-7B17-6BA5-4350-7AE7008BF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591B3-799D-21E2-237D-9FDEFC2FE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625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5D039D-8CD0-A935-CA26-1E3E48703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CF765C-E934-1642-72B5-F295D5C62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DBF1E-18B6-A738-A2A1-C9ECEBAEB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61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31B81-F51A-1E5F-6A99-5DB9DB8E8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91B3B-3054-AB01-295C-5E0CD4DF2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46AB3-F15D-0F4D-5A56-F9F0C731F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60C0A-927C-87DA-56BE-21502D495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FA98F-E19C-2EFF-8347-72A4E6980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B1933-4D05-E263-D01C-6060FEF07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83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5CB65-7755-769B-15DB-1F38A959E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EDACDA-B3C3-590A-86B7-9D6BC92D9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8CD7E-B05A-95C7-37E2-FA90A1EF7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25BDC-087A-1EDB-9F24-1183F65AB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977E4-9020-7AD7-2473-403E7A46B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F9BE0-147D-7EF4-8A6B-36991CD23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805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20732-22A3-64FD-C58D-9953AE790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A8301-4CA7-ABEE-9844-19B5B245F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03F88-18C5-EF1F-ADC5-251F8273C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78C60-6B97-AFCF-1BAD-453F2C223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51989-D872-155D-BBBB-7646C2381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755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72CB5C-6257-61D1-3916-F0DFED98D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B32F55-E205-394F-C317-F52A3A53C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F10D-F658-9194-D6A6-6A6CADECB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D9AAE-4329-7580-758B-D93075F2B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5A38E-0C29-3034-D14E-02B9B3DDF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3766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4BDA0-F083-E32D-286E-E965A32F1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A3083-CB68-11EB-A911-F759CEF6A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E5B1C-D068-A8E2-0DCD-82196BFBCF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DBEEA-6472-A38B-24C7-D8C35ABCA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81134-3DFB-0B4B-59EB-A929032A01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330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4AC2610-8312-0C4B-A09E-9ED4AC4794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0970577"/>
              </p:ext>
            </p:extLst>
          </p:nvPr>
        </p:nvGraphicFramePr>
        <p:xfrm>
          <a:off x="2181256" y="1405055"/>
          <a:ext cx="1854853" cy="1761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CB5DCF2-6B0B-16BF-A291-F491E028709F}"/>
              </a:ext>
            </a:extLst>
          </p:cNvPr>
          <p:cNvSpPr/>
          <p:nvPr/>
        </p:nvSpPr>
        <p:spPr>
          <a:xfrm>
            <a:off x="2276817" y="1687089"/>
            <a:ext cx="1715079" cy="1290427"/>
          </a:xfrm>
          <a:prstGeom prst="rect">
            <a:avLst/>
          </a:prstGeom>
          <a:solidFill>
            <a:srgbClr val="0D3AAB"/>
          </a:solidFill>
          <a:ln w="25400" cap="flat" cmpd="sng" algn="ctr">
            <a:solidFill>
              <a:srgbClr val="0D3AAB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SG" kern="0" dirty="0">
                <a:solidFill>
                  <a:srgbClr val="FFFFFF"/>
                </a:solidFill>
                <a:latin typeface="Montserrat"/>
              </a:rPr>
              <a:t>{Data} - Table_1, </a:t>
            </a:r>
            <a:r>
              <a:rPr kumimoji="0" lang="en-SG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S1, Column - Total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2F991B27-1C0A-7F88-D1B8-00D9CBB5C0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0230558"/>
              </p:ext>
            </p:extLst>
          </p:nvPr>
        </p:nvGraphicFramePr>
        <p:xfrm>
          <a:off x="6152731" y="1114644"/>
          <a:ext cx="5075582" cy="20872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405BCAC3-5528-76F2-4F9C-2FFA9864619D}"/>
              </a:ext>
            </a:extLst>
          </p:cNvPr>
          <p:cNvSpPr/>
          <p:nvPr/>
        </p:nvSpPr>
        <p:spPr>
          <a:xfrm>
            <a:off x="8002434" y="1583769"/>
            <a:ext cx="1856095" cy="1290427"/>
          </a:xfrm>
          <a:prstGeom prst="rect">
            <a:avLst/>
          </a:prstGeom>
          <a:solidFill>
            <a:srgbClr val="0D3AAB"/>
          </a:solidFill>
          <a:ln w="25400" cap="flat" cmpd="sng" algn="ctr">
            <a:solidFill>
              <a:srgbClr val="0D3AAB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SG" kern="0" dirty="0">
                <a:solidFill>
                  <a:srgbClr val="FFFFFF"/>
                </a:solidFill>
                <a:latin typeface="Montserrat"/>
              </a:rPr>
              <a:t>{Data} - </a:t>
            </a:r>
            <a:r>
              <a:rPr lang="en-SG" kern="0">
                <a:solidFill>
                  <a:srgbClr val="FFFFFF"/>
                </a:solidFill>
                <a:latin typeface="Montserrat"/>
              </a:rPr>
              <a:t>Table_2, </a:t>
            </a:r>
            <a:r>
              <a:rPr lang="en-SG" kern="0" dirty="0">
                <a:solidFill>
                  <a:srgbClr val="FFFFFF"/>
                </a:solidFill>
                <a:latin typeface="Montserrat"/>
              </a:rPr>
              <a:t>S2, Column - Total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7CD368BC-20DF-DFC1-368C-A0E0BAEF2A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5999099"/>
              </p:ext>
            </p:extLst>
          </p:nvPr>
        </p:nvGraphicFramePr>
        <p:xfrm>
          <a:off x="1846023" y="3899926"/>
          <a:ext cx="3488175" cy="20872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4B2E1B4A-E9F8-B79B-A692-39073D2D69E4}"/>
              </a:ext>
            </a:extLst>
          </p:cNvPr>
          <p:cNvSpPr/>
          <p:nvPr/>
        </p:nvSpPr>
        <p:spPr>
          <a:xfrm>
            <a:off x="2842570" y="4331597"/>
            <a:ext cx="1267738" cy="1290427"/>
          </a:xfrm>
          <a:prstGeom prst="rect">
            <a:avLst/>
          </a:prstGeom>
          <a:solidFill>
            <a:srgbClr val="0D3AAB"/>
          </a:solidFill>
          <a:ln w="25400" cap="flat" cmpd="sng" algn="ctr">
            <a:solidFill>
              <a:srgbClr val="0D3AAB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SG" kern="0" dirty="0">
                <a:solidFill>
                  <a:srgbClr val="FFFFFF"/>
                </a:solidFill>
                <a:latin typeface="Montserrat"/>
              </a:rPr>
              <a:t>{Data} - Table_3, MY, Column - Total</a:t>
            </a: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DCE07FE2-1F52-BE0A-C588-98F92CB47C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123910"/>
              </p:ext>
            </p:extLst>
          </p:nvPr>
        </p:nvGraphicFramePr>
        <p:xfrm>
          <a:off x="7182964" y="3670988"/>
          <a:ext cx="3488175" cy="20872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A9F2FE85-3D67-E31B-DA74-403FF2B6018E}"/>
              </a:ext>
            </a:extLst>
          </p:cNvPr>
          <p:cNvSpPr/>
          <p:nvPr/>
        </p:nvSpPr>
        <p:spPr>
          <a:xfrm>
            <a:off x="8275497" y="4100274"/>
            <a:ext cx="1267738" cy="1290427"/>
          </a:xfrm>
          <a:prstGeom prst="rect">
            <a:avLst/>
          </a:prstGeom>
          <a:solidFill>
            <a:srgbClr val="0D3AAB"/>
          </a:solidFill>
          <a:ln w="25400" cap="flat" cmpd="sng" algn="ctr">
            <a:solidFill>
              <a:srgbClr val="0D3AAB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SG" kern="0" dirty="0">
                <a:solidFill>
                  <a:srgbClr val="FFFFFF"/>
                </a:solidFill>
                <a:latin typeface="Montserrat"/>
              </a:rPr>
              <a:t>{Data} - Table_4</a:t>
            </a:r>
            <a:r>
              <a:rPr lang="en-SG" kern="0">
                <a:solidFill>
                  <a:srgbClr val="FFFFFF"/>
                </a:solidFill>
                <a:latin typeface="Montserrat"/>
              </a:rPr>
              <a:t>, E5, </a:t>
            </a:r>
            <a:r>
              <a:rPr lang="en-SG" kern="0" dirty="0">
                <a:solidFill>
                  <a:srgbClr val="FFFFFF"/>
                </a:solidFill>
                <a:latin typeface="Montserrat"/>
              </a:rPr>
              <a:t>Column - Total</a:t>
            </a:r>
          </a:p>
        </p:txBody>
      </p:sp>
    </p:spTree>
    <p:extLst>
      <p:ext uri="{BB962C8B-B14F-4D97-AF65-F5344CB8AC3E}">
        <p14:creationId xmlns:p14="http://schemas.microsoft.com/office/powerpoint/2010/main" val="3285272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280CD5E-79B3-FE1E-67CE-F20C547811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9737121"/>
              </p:ext>
            </p:extLst>
          </p:nvPr>
        </p:nvGraphicFramePr>
        <p:xfrm>
          <a:off x="783956" y="1265628"/>
          <a:ext cx="10373417" cy="4464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1D9FE5F8-080E-85CF-EDFF-5E42FC943C85}"/>
              </a:ext>
            </a:extLst>
          </p:cNvPr>
          <p:cNvSpPr/>
          <p:nvPr/>
        </p:nvSpPr>
        <p:spPr>
          <a:xfrm>
            <a:off x="6031416" y="35881"/>
            <a:ext cx="5178391" cy="1290427"/>
          </a:xfrm>
          <a:prstGeom prst="rect">
            <a:avLst/>
          </a:prstGeom>
          <a:solidFill>
            <a:srgbClr val="0D3AAB"/>
          </a:solidFill>
          <a:ln w="25400" cap="flat" cmpd="sng" algn="ctr">
            <a:solidFill>
              <a:srgbClr val="0D3AAB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SG" kern="0" dirty="0">
                <a:solidFill>
                  <a:srgbClr val="FFFFFF"/>
                </a:solidFill>
                <a:latin typeface="Montserrat"/>
              </a:rPr>
              <a:t>{Data} - Table_9, </a:t>
            </a:r>
            <a:r>
              <a:rPr kumimoji="0" lang="en-SG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A1</a:t>
            </a:r>
          </a:p>
        </p:txBody>
      </p:sp>
    </p:spTree>
    <p:extLst>
      <p:ext uri="{BB962C8B-B14F-4D97-AF65-F5344CB8AC3E}">
        <p14:creationId xmlns:p14="http://schemas.microsoft.com/office/powerpoint/2010/main" val="811444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7F08B9-A0AE-092C-3140-4ED8FE9A9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856412"/>
              </p:ext>
            </p:extLst>
          </p:nvPr>
        </p:nvGraphicFramePr>
        <p:xfrm>
          <a:off x="706782" y="1395609"/>
          <a:ext cx="11056983" cy="4592235"/>
        </p:xfrm>
        <a:graphic>
          <a:graphicData uri="http://schemas.openxmlformats.org/drawingml/2006/table">
            <a:tbl>
              <a:tblPr firstRow="1" bandRow="1"/>
              <a:tblGrid>
                <a:gridCol w="3816793">
                  <a:extLst>
                    <a:ext uri="{9D8B030D-6E8A-4147-A177-3AD203B41FA5}">
                      <a16:colId xmlns:a16="http://schemas.microsoft.com/office/drawing/2014/main" val="418783953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87452655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775745548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3925711559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2337428154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2474504078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1922948942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3173444560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683030759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1294197942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2055703247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2883238605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324126077"/>
                    </a:ext>
                  </a:extLst>
                </a:gridCol>
              </a:tblGrid>
              <a:tr h="394846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Heat Stress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AAB">
                        <a:lumMod val="20000"/>
                        <a:lumOff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Heat Exposure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B940">
                        <a:lumMod val="60000"/>
                        <a:lumOff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Age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b="1" i="0" u="none" strike="noStrike" cap="none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Occupation</a:t>
                      </a:r>
                      <a:endParaRPr sz="1000" b="1" i="0" u="none" strike="noStrike" cap="none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C78E">
                        <a:lumMod val="40000"/>
                        <a:lumOff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b="1" i="0" u="none" strike="noStrike" cap="none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TLC</a:t>
                      </a:r>
                      <a:endParaRPr sz="1000" b="1" i="0" u="none" strike="noStrike" cap="none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C61">
                        <a:lumMod val="40000"/>
                        <a:lumOff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00" b="1" i="0" u="none" strike="noStrike" cap="none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625292"/>
                  </a:ext>
                </a:extLst>
              </a:tr>
              <a:tr h="55009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Concern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AA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Not concern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AA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High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B94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Low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B94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Gen Z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Millen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Gen X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Boom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Office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C78E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Non-office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C78E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Aware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C61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Not aware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C61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427996"/>
                  </a:ext>
                </a:extLst>
              </a:tr>
              <a:tr h="41848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(n=)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69258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928457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787278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100679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658634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834092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418045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950825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783835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361802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6B312AA-7E75-E3B3-8247-128085FAB0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2760157"/>
              </p:ext>
            </p:extLst>
          </p:nvPr>
        </p:nvGraphicFramePr>
        <p:xfrm>
          <a:off x="706780" y="2745920"/>
          <a:ext cx="4215416" cy="32402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DD8AB3B8-BE53-714C-B7E4-42EB18C1A45F}"/>
              </a:ext>
            </a:extLst>
          </p:cNvPr>
          <p:cNvSpPr/>
          <p:nvPr/>
        </p:nvSpPr>
        <p:spPr>
          <a:xfrm>
            <a:off x="4368147" y="48852"/>
            <a:ext cx="6892438" cy="969516"/>
          </a:xfrm>
          <a:prstGeom prst="rect">
            <a:avLst/>
          </a:prstGeom>
          <a:solidFill>
            <a:srgbClr val="0D3AAB"/>
          </a:solidFill>
          <a:ln w="25400" cap="flat" cmpd="sng" algn="ctr">
            <a:solidFill>
              <a:srgbClr val="0D3AAB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{Data} – Table_9, A2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Sort in descending order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Update the </a:t>
            </a:r>
            <a:r>
              <a:rPr kumimoji="0" lang="en-SG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dat</a:t>
            </a:r>
            <a:r>
              <a:rPr lang="en-SG" kern="0" dirty="0">
                <a:solidFill>
                  <a:srgbClr val="FFFFFF"/>
                </a:solidFill>
                <a:latin typeface="Montserrat"/>
              </a:rPr>
              <a:t>a from the column as per the below table</a:t>
            </a:r>
            <a:endParaRPr kumimoji="0" lang="en-SG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9342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145</Words>
  <Application>Microsoft Office PowerPoint</Application>
  <PresentationFormat>Widescreen</PresentationFormat>
  <Paragraphs>48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Saikiran D</dc:creator>
  <cp:lastModifiedBy>Saikiran D</cp:lastModifiedBy>
  <cp:revision>4</cp:revision>
  <dcterms:created xsi:type="dcterms:W3CDTF">2026-06-25T16:07:59Z</dcterms:created>
  <dcterms:modified xsi:type="dcterms:W3CDTF">2026-06-25T16:33:07Z</dcterms:modified>
</cp:coreProperties>
</file>