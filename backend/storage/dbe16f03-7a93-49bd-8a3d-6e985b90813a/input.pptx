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Gen Z
(18-24)</c:v>
                </c:pt>
                <c:pt idx="1">
                  <c:v>Mil
(30-45)</c:v>
                </c:pt>
                <c:pt idx="2">
                  <c:v>Gen X
(46-60)</c:v>
                </c:pt>
                <c:pt idx="3">
                  <c:v>Boomers
(60+)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0.52</c:v>
                </c:pt>
                <c:pt idx="2">
                  <c:v>0.25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  <c:pt idx="3">
                  <c:v>Widowed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0.24</c:v>
                </c:pt>
                <c:pt idx="1">
                  <c:v>0.73</c:v>
                </c:pt>
                <c:pt idx="2">
                  <c:v>0.03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Secondary</c:v>
                </c:pt>
                <c:pt idx="1">
                  <c:v>Tertiary</c:v>
                </c:pt>
                <c:pt idx="2">
                  <c:v>Post-grad</c:v>
                </c:pt>
              </c:strCache>
            </c:strRef>
          </c:cat>
          <c:val>
            <c:numRef>
              <c:f>Sheet1!$B$3:$B$5</c:f>
              <c:numCache>
                <c:formatCode>0%</c:formatCode>
                <c:ptCount val="3"/>
                <c:pt idx="0">
                  <c:v>0.11</c:v>
                </c:pt>
                <c:pt idx="1">
                  <c:v>0.57999999999999996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0.03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0.14000000000000001</c:v>
                </c:pt>
                <c:pt idx="5">
                  <c:v>0.21</c:v>
                </c:pt>
                <c:pt idx="6">
                  <c:v>0.27</c:v>
                </c:pt>
                <c:pt idx="7">
                  <c:v>0.21</c:v>
                </c:pt>
                <c:pt idx="8">
                  <c:v>0.21</c:v>
                </c:pt>
                <c:pt idx="9">
                  <c:v>0.05</c:v>
                </c:pt>
                <c:pt idx="10">
                  <c:v>0.02</c:v>
                </c:pt>
                <c:pt idx="11">
                  <c:v>0.05</c:v>
                </c:pt>
                <c:pt idx="1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0.12</c:v>
                </c:pt>
                <c:pt idx="1">
                  <c:v>0.1</c:v>
                </c:pt>
                <c:pt idx="2">
                  <c:v>0.14000000000000001</c:v>
                </c:pt>
                <c:pt idx="3">
                  <c:v>0.14000000000000001</c:v>
                </c:pt>
                <c:pt idx="4">
                  <c:v>0.25</c:v>
                </c:pt>
                <c:pt idx="5">
                  <c:v>0.28999999999999998</c:v>
                </c:pt>
                <c:pt idx="6">
                  <c:v>0.24</c:v>
                </c:pt>
                <c:pt idx="7">
                  <c:v>0.28999999999999998</c:v>
                </c:pt>
                <c:pt idx="8">
                  <c:v>0.28999999999999998</c:v>
                </c:pt>
                <c:pt idx="9">
                  <c:v>0.16</c:v>
                </c:pt>
                <c:pt idx="10">
                  <c:v>0.12</c:v>
                </c:pt>
                <c:pt idx="11">
                  <c:v>0.16</c:v>
                </c:pt>
                <c:pt idx="1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Sheet1!$D$2:$D$14</c:f>
              <c:numCache>
                <c:formatCode>0%</c:formatCode>
                <c:ptCount val="13"/>
                <c:pt idx="0">
                  <c:v>0.41</c:v>
                </c:pt>
                <c:pt idx="1">
                  <c:v>0.51</c:v>
                </c:pt>
                <c:pt idx="2">
                  <c:v>0.36</c:v>
                </c:pt>
                <c:pt idx="3">
                  <c:v>0.36</c:v>
                </c:pt>
                <c:pt idx="4">
                  <c:v>0.44</c:v>
                </c:pt>
                <c:pt idx="5">
                  <c:v>0.4</c:v>
                </c:pt>
                <c:pt idx="6">
                  <c:v>0.41</c:v>
                </c:pt>
                <c:pt idx="7">
                  <c:v>0.4</c:v>
                </c:pt>
                <c:pt idx="8">
                  <c:v>0.4</c:v>
                </c:pt>
                <c:pt idx="9">
                  <c:v>0.39</c:v>
                </c:pt>
                <c:pt idx="10">
                  <c:v>0.38</c:v>
                </c:pt>
                <c:pt idx="11">
                  <c:v>0.39</c:v>
                </c:pt>
                <c:pt idx="1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0.25</c:v>
                </c:pt>
                <c:pt idx="1">
                  <c:v>0.21</c:v>
                </c:pt>
                <c:pt idx="2">
                  <c:v>0.24</c:v>
                </c:pt>
                <c:pt idx="3">
                  <c:v>0.24</c:v>
                </c:pt>
                <c:pt idx="4">
                  <c:v>0.17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0.28999999999999998</c:v>
                </c:pt>
                <c:pt idx="10">
                  <c:v>0.25</c:v>
                </c:pt>
                <c:pt idx="11">
                  <c:v>0.28999999999999998</c:v>
                </c:pt>
                <c:pt idx="1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Sheet1!$F$2:$F$14</c:f>
              <c:numCache>
                <c:formatCode>0%</c:formatCode>
                <c:ptCount val="13"/>
                <c:pt idx="0">
                  <c:v>0.19</c:v>
                </c:pt>
                <c:pt idx="1">
                  <c:v>0.16</c:v>
                </c:pt>
                <c:pt idx="2">
                  <c:v>0.24</c:v>
                </c:pt>
                <c:pt idx="3">
                  <c:v>0.24</c:v>
                </c:pt>
                <c:pt idx="4">
                  <c:v>0.02</c:v>
                </c:pt>
                <c:pt idx="5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0.11</c:v>
                </c:pt>
                <c:pt idx="10">
                  <c:v>0.23</c:v>
                </c:pt>
                <c:pt idx="11">
                  <c:v>0.11</c:v>
                </c:pt>
                <c:pt idx="1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0.45</c:v>
                </c:pt>
                <c:pt idx="1">
                  <c:v>0.43</c:v>
                </c:pt>
                <c:pt idx="2">
                  <c:v>0.42</c:v>
                </c:pt>
                <c:pt idx="3">
                  <c:v>0.37</c:v>
                </c:pt>
                <c:pt idx="4">
                  <c:v>0.36</c:v>
                </c:pt>
                <c:pt idx="5">
                  <c:v>0.35</c:v>
                </c:pt>
                <c:pt idx="6">
                  <c:v>0.34</c:v>
                </c:pt>
                <c:pt idx="7">
                  <c:v>0.28999999999999998</c:v>
                </c:pt>
                <c:pt idx="8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CB5DCF2-6B0B-16BF-A291-F491E028709F}"/>
              </a:ext>
            </a:extLst>
          </p:cNvPr>
          <p:cNvSpPr/>
          <p:nvPr/>
        </p:nvSpPr>
        <p:spPr>
          <a:xfrm>
            <a:off x="2276817" y="1687089"/>
            <a:ext cx="1715079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Table_1,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S1, Column - Total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05BCAC3-5528-76F2-4F9C-2FFA9864619D}"/>
              </a:ext>
            </a:extLst>
          </p:cNvPr>
          <p:cNvSpPr/>
          <p:nvPr/>
        </p:nvSpPr>
        <p:spPr>
          <a:xfrm>
            <a:off x="8002434" y="1583769"/>
            <a:ext cx="1856095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Table_2,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S2, Column - Total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B2E1B4A-E9F8-B79B-A692-39073D2D69E4}"/>
              </a:ext>
            </a:extLst>
          </p:cNvPr>
          <p:cNvSpPr/>
          <p:nvPr/>
        </p:nvSpPr>
        <p:spPr>
          <a:xfrm>
            <a:off x="2842570" y="4331597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Table_3, MY, Column - Total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A9F2FE85-3D67-E31B-DA74-403FF2B6018E}"/>
              </a:ext>
            </a:extLst>
          </p:cNvPr>
          <p:cNvSpPr/>
          <p:nvPr/>
        </p:nvSpPr>
        <p:spPr>
          <a:xfrm>
            <a:off x="8275497" y="4100274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Table_4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, E5,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Column - Total</a:t>
            </a:r>
          </a:p>
        </p:txBody>
      </p:sp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D9FE5F8-080E-85CF-EDFF-5E42FC943C85}"/>
              </a:ext>
            </a:extLst>
          </p:cNvPr>
          <p:cNvSpPr/>
          <p:nvPr/>
        </p:nvSpPr>
        <p:spPr>
          <a:xfrm>
            <a:off x="6031416" y="35881"/>
            <a:ext cx="5178391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Table_9,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D8AB3B8-BE53-714C-B7E4-42EB18C1A45F}"/>
              </a:ext>
            </a:extLst>
          </p:cNvPr>
          <p:cNvSpPr/>
          <p:nvPr/>
        </p:nvSpPr>
        <p:spPr>
          <a:xfrm>
            <a:off x="4368147" y="48852"/>
            <a:ext cx="6892438" cy="969516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{Data} – Table_9, A2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Sort in descending order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Update the </a:t>
            </a:r>
            <a:r>
              <a:rPr kumimoji="0" lang="en-SG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dat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a from the column as per the below table</a:t>
            </a:r>
            <a:endParaRPr kumimoji="0" lang="en-SG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4</cp:revision>
  <dcterms:created xsi:type="dcterms:W3CDTF">2026-06-25T16:07:59Z</dcterms:created>
  <dcterms:modified xsi:type="dcterms:W3CDTF">2026-06-25T16:33:07Z</dcterms:modified>
</cp:coreProperties>
</file>